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Akzidenz-Grotesk Bold"/>
      <p:regular r:id="rId10"/>
    </p:embeddedFont>
    <p:embeddedFont>
      <p:font typeface="Aptos Bold" panose="020B0604020202020204" charset="0"/>
      <p:regular r:id="rId11"/>
    </p:embeddedFont>
    <p:embeddedFont>
      <p:font typeface="Archivo Black" panose="020B0604020202020204" charset="0"/>
      <p:regular r:id="rId12"/>
    </p:embeddedFont>
    <p:embeddedFont>
      <p:font typeface="Calibri (MS)" panose="020B0604020202020204" charset="0"/>
      <p:regular r:id="rId13"/>
    </p:embeddedFont>
    <p:embeddedFont>
      <p:font typeface="Calibri (MS) Bold" panose="020B0604020202020204" charset="0"/>
      <p:regular r:id="rId14"/>
    </p:embeddedFont>
    <p:embeddedFont>
      <p:font typeface="Canva Sans Bold" panose="020B0604020202020204" charset="0"/>
      <p:regular r:id="rId15"/>
    </p:embeddedFont>
    <p:embeddedFont>
      <p:font typeface="IBM Plex Mono Bold"/>
      <p:regular r:id="rId16"/>
    </p:embeddedFont>
    <p:embeddedFont>
      <p:font typeface="IBM Plex Sans" panose="020B0503050203000203" pitchFamily="34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8DFA23-317D-464A-BD6B-94E3E1A29435}" v="27" dt="2026-09-11T11:02:38.6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946" y="1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theme" Target="theme/theme1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INAV SHEKHAR" userId="0dc0618b48a6a509" providerId="LiveId" clId="{EE01A5D1-C6B4-4292-9219-9A4244259DFB}"/>
    <pc:docChg chg="undo custSel modSld">
      <pc:chgData name="ABHINAV SHEKHAR" userId="0dc0618b48a6a509" providerId="LiveId" clId="{EE01A5D1-C6B4-4292-9219-9A4244259DFB}" dt="2026-09-11T11:03:32.338" v="1182"/>
      <pc:docMkLst>
        <pc:docMk/>
      </pc:docMkLst>
      <pc:sldChg chg="addSp delSp modSp mod">
        <pc:chgData name="ABHINAV SHEKHAR" userId="0dc0618b48a6a509" providerId="LiveId" clId="{EE01A5D1-C6B4-4292-9219-9A4244259DFB}" dt="2026-09-11T10:59:00.280" v="1047" actId="1076"/>
        <pc:sldMkLst>
          <pc:docMk/>
          <pc:sldMk cId="0" sldId="256"/>
        </pc:sldMkLst>
        <pc:spChg chg="mod">
          <ac:chgData name="ABHINAV SHEKHAR" userId="0dc0618b48a6a509" providerId="LiveId" clId="{EE01A5D1-C6B4-4292-9219-9A4244259DFB}" dt="2026-09-11T10:58:56.157" v="1046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ABHINAV SHEKHAR" userId="0dc0618b48a6a509" providerId="LiveId" clId="{EE01A5D1-C6B4-4292-9219-9A4244259DFB}" dt="2026-09-11T10:34:06.343" v="274" actId="20577"/>
          <ac:spMkLst>
            <pc:docMk/>
            <pc:sldMk cId="0" sldId="256"/>
            <ac:spMk id="8" creationId="{00000000-0000-0000-0000-000000000000}"/>
          </ac:spMkLst>
        </pc:spChg>
        <pc:spChg chg="mod">
          <ac:chgData name="ABHINAV SHEKHAR" userId="0dc0618b48a6a509" providerId="LiveId" clId="{EE01A5D1-C6B4-4292-9219-9A4244259DFB}" dt="2026-09-11T10:18:53.157" v="66" actId="20577"/>
          <ac:spMkLst>
            <pc:docMk/>
            <pc:sldMk cId="0" sldId="256"/>
            <ac:spMk id="10" creationId="{00000000-0000-0000-0000-000000000000}"/>
          </ac:spMkLst>
        </pc:spChg>
        <pc:spChg chg="mod">
          <ac:chgData name="ABHINAV SHEKHAR" userId="0dc0618b48a6a509" providerId="LiveId" clId="{EE01A5D1-C6B4-4292-9219-9A4244259DFB}" dt="2026-09-11T10:15:36.225" v="1" actId="1076"/>
          <ac:spMkLst>
            <pc:docMk/>
            <pc:sldMk cId="0" sldId="256"/>
            <ac:spMk id="15" creationId="{00000000-0000-0000-0000-000000000000}"/>
          </ac:spMkLst>
        </pc:spChg>
        <pc:spChg chg="mod">
          <ac:chgData name="ABHINAV SHEKHAR" userId="0dc0618b48a6a509" providerId="LiveId" clId="{EE01A5D1-C6B4-4292-9219-9A4244259DFB}" dt="2026-09-11T10:17:41.497" v="35" actId="1076"/>
          <ac:spMkLst>
            <pc:docMk/>
            <pc:sldMk cId="0" sldId="256"/>
            <ac:spMk id="26" creationId="{00000000-0000-0000-0000-000000000000}"/>
          </ac:spMkLst>
        </pc:spChg>
        <pc:spChg chg="add del mod">
          <ac:chgData name="ABHINAV SHEKHAR" userId="0dc0618b48a6a509" providerId="LiveId" clId="{EE01A5D1-C6B4-4292-9219-9A4244259DFB}" dt="2026-09-11T10:59:00.280" v="1047" actId="1076"/>
          <ac:spMkLst>
            <pc:docMk/>
            <pc:sldMk cId="0" sldId="256"/>
            <ac:spMk id="27" creationId="{00000000-0000-0000-0000-000000000000}"/>
          </ac:spMkLst>
        </pc:spChg>
        <pc:spChg chg="add del mod">
          <ac:chgData name="ABHINAV SHEKHAR" userId="0dc0618b48a6a509" providerId="LiveId" clId="{EE01A5D1-C6B4-4292-9219-9A4244259DFB}" dt="2026-09-11T10:34:11.295" v="275" actId="20577"/>
          <ac:spMkLst>
            <pc:docMk/>
            <pc:sldMk cId="0" sldId="256"/>
            <ac:spMk id="29" creationId="{00000000-0000-0000-0000-000000000000}"/>
          </ac:spMkLst>
        </pc:spChg>
        <pc:spChg chg="mod">
          <ac:chgData name="ABHINAV SHEKHAR" userId="0dc0618b48a6a509" providerId="LiveId" clId="{EE01A5D1-C6B4-4292-9219-9A4244259DFB}" dt="2026-09-11T10:19:07.340" v="87" actId="20577"/>
          <ac:spMkLst>
            <pc:docMk/>
            <pc:sldMk cId="0" sldId="256"/>
            <ac:spMk id="31" creationId="{00000000-0000-0000-0000-000000000000}"/>
          </ac:spMkLst>
        </pc:spChg>
        <pc:spChg chg="mod">
          <ac:chgData name="ABHINAV SHEKHAR" userId="0dc0618b48a6a509" providerId="LiveId" clId="{EE01A5D1-C6B4-4292-9219-9A4244259DFB}" dt="2026-09-11T10:19:20.047" v="106" actId="20577"/>
          <ac:spMkLst>
            <pc:docMk/>
            <pc:sldMk cId="0" sldId="256"/>
            <ac:spMk id="33" creationId="{00000000-0000-0000-0000-000000000000}"/>
          </ac:spMkLst>
        </pc:spChg>
        <pc:spChg chg="add del">
          <ac:chgData name="ABHINAV SHEKHAR" userId="0dc0618b48a6a509" providerId="LiveId" clId="{EE01A5D1-C6B4-4292-9219-9A4244259DFB}" dt="2026-09-11T10:18:08.629" v="38" actId="22"/>
          <ac:spMkLst>
            <pc:docMk/>
            <pc:sldMk cId="0" sldId="256"/>
            <ac:spMk id="39" creationId="{76C5E07F-6E00-CD50-D70F-63D6A03092C5}"/>
          </ac:spMkLst>
        </pc:spChg>
      </pc:sldChg>
      <pc:sldChg chg="modSp mod">
        <pc:chgData name="ABHINAV SHEKHAR" userId="0dc0618b48a6a509" providerId="LiveId" clId="{EE01A5D1-C6B4-4292-9219-9A4244259DFB}" dt="2026-09-11T10:34:45.338" v="278" actId="403"/>
        <pc:sldMkLst>
          <pc:docMk/>
          <pc:sldMk cId="0" sldId="257"/>
        </pc:sldMkLst>
        <pc:spChg chg="mod">
          <ac:chgData name="ABHINAV SHEKHAR" userId="0dc0618b48a6a509" providerId="LiveId" clId="{EE01A5D1-C6B4-4292-9219-9A4244259DFB}" dt="2026-09-11T10:34:34.386" v="276" actId="255"/>
          <ac:spMkLst>
            <pc:docMk/>
            <pc:sldMk cId="0" sldId="257"/>
            <ac:spMk id="21" creationId="{00000000-0000-0000-0000-000000000000}"/>
          </ac:spMkLst>
        </pc:spChg>
        <pc:spChg chg="mod">
          <ac:chgData name="ABHINAV SHEKHAR" userId="0dc0618b48a6a509" providerId="LiveId" clId="{EE01A5D1-C6B4-4292-9219-9A4244259DFB}" dt="2026-09-11T10:33:44.364" v="266" actId="403"/>
          <ac:spMkLst>
            <pc:docMk/>
            <pc:sldMk cId="0" sldId="257"/>
            <ac:spMk id="22" creationId="{00000000-0000-0000-0000-000000000000}"/>
          </ac:spMkLst>
        </pc:spChg>
        <pc:spChg chg="mod">
          <ac:chgData name="ABHINAV SHEKHAR" userId="0dc0618b48a6a509" providerId="LiveId" clId="{EE01A5D1-C6B4-4292-9219-9A4244259DFB}" dt="2026-09-11T10:34:45.338" v="278" actId="403"/>
          <ac:spMkLst>
            <pc:docMk/>
            <pc:sldMk cId="0" sldId="257"/>
            <ac:spMk id="24" creationId="{00000000-0000-0000-0000-000000000000}"/>
          </ac:spMkLst>
        </pc:spChg>
        <pc:spChg chg="mod">
          <ac:chgData name="ABHINAV SHEKHAR" userId="0dc0618b48a6a509" providerId="LiveId" clId="{EE01A5D1-C6B4-4292-9219-9A4244259DFB}" dt="2026-09-11T10:32:58.486" v="261" actId="20577"/>
          <ac:spMkLst>
            <pc:docMk/>
            <pc:sldMk cId="0" sldId="257"/>
            <ac:spMk id="26" creationId="{00000000-0000-0000-0000-000000000000}"/>
          </ac:spMkLst>
        </pc:spChg>
      </pc:sldChg>
      <pc:sldChg chg="modSp mod">
        <pc:chgData name="ABHINAV SHEKHAR" userId="0dc0618b48a6a509" providerId="LiveId" clId="{EE01A5D1-C6B4-4292-9219-9A4244259DFB}" dt="2026-09-11T10:38:27.291" v="315" actId="403"/>
        <pc:sldMkLst>
          <pc:docMk/>
          <pc:sldMk cId="0" sldId="258"/>
        </pc:sldMkLst>
        <pc:spChg chg="mod">
          <ac:chgData name="ABHINAV SHEKHAR" userId="0dc0618b48a6a509" providerId="LiveId" clId="{EE01A5D1-C6B4-4292-9219-9A4244259DFB}" dt="2026-09-11T10:36:06.447" v="283" actId="20577"/>
          <ac:spMkLst>
            <pc:docMk/>
            <pc:sldMk cId="0" sldId="258"/>
            <ac:spMk id="12" creationId="{00000000-0000-0000-0000-000000000000}"/>
          </ac:spMkLst>
        </pc:spChg>
        <pc:spChg chg="mod">
          <ac:chgData name="ABHINAV SHEKHAR" userId="0dc0618b48a6a509" providerId="LiveId" clId="{EE01A5D1-C6B4-4292-9219-9A4244259DFB}" dt="2026-09-11T10:35:41.371" v="282"/>
          <ac:spMkLst>
            <pc:docMk/>
            <pc:sldMk cId="0" sldId="258"/>
            <ac:spMk id="19" creationId="{00000000-0000-0000-0000-000000000000}"/>
          </ac:spMkLst>
        </pc:spChg>
        <pc:spChg chg="mod">
          <ac:chgData name="ABHINAV SHEKHAR" userId="0dc0618b48a6a509" providerId="LiveId" clId="{EE01A5D1-C6B4-4292-9219-9A4244259DFB}" dt="2026-09-11T10:36:43.011" v="289" actId="403"/>
          <ac:spMkLst>
            <pc:docMk/>
            <pc:sldMk cId="0" sldId="258"/>
            <ac:spMk id="21" creationId="{00000000-0000-0000-0000-000000000000}"/>
          </ac:spMkLst>
        </pc:spChg>
        <pc:spChg chg="mod">
          <ac:chgData name="ABHINAV SHEKHAR" userId="0dc0618b48a6a509" providerId="LiveId" clId="{EE01A5D1-C6B4-4292-9219-9A4244259DFB}" dt="2026-09-11T10:38:27.291" v="315" actId="403"/>
          <ac:spMkLst>
            <pc:docMk/>
            <pc:sldMk cId="0" sldId="258"/>
            <ac:spMk id="23" creationId="{00000000-0000-0000-0000-000000000000}"/>
          </ac:spMkLst>
        </pc:spChg>
        <pc:grpChg chg="mod">
          <ac:chgData name="ABHINAV SHEKHAR" userId="0dc0618b48a6a509" providerId="LiveId" clId="{EE01A5D1-C6B4-4292-9219-9A4244259DFB}" dt="2026-09-11T10:38:21.752" v="314" actId="1076"/>
          <ac:grpSpMkLst>
            <pc:docMk/>
            <pc:sldMk cId="0" sldId="258"/>
            <ac:grpSpMk id="13" creationId="{00000000-0000-0000-0000-000000000000}"/>
          </ac:grpSpMkLst>
        </pc:grpChg>
      </pc:sldChg>
      <pc:sldChg chg="addSp delSp modSp mod">
        <pc:chgData name="ABHINAV SHEKHAR" userId="0dc0618b48a6a509" providerId="LiveId" clId="{EE01A5D1-C6B4-4292-9219-9A4244259DFB}" dt="2026-09-11T10:41:16.313" v="436" actId="20577"/>
        <pc:sldMkLst>
          <pc:docMk/>
          <pc:sldMk cId="0" sldId="259"/>
        </pc:sldMkLst>
        <pc:spChg chg="mod">
          <ac:chgData name="ABHINAV SHEKHAR" userId="0dc0618b48a6a509" providerId="LiveId" clId="{EE01A5D1-C6B4-4292-9219-9A4244259DFB}" dt="2026-09-11T10:39:52.531" v="323" actId="1076"/>
          <ac:spMkLst>
            <pc:docMk/>
            <pc:sldMk cId="0" sldId="259"/>
            <ac:spMk id="12" creationId="{00000000-0000-0000-0000-000000000000}"/>
          </ac:spMkLst>
        </pc:spChg>
        <pc:spChg chg="mod">
          <ac:chgData name="ABHINAV SHEKHAR" userId="0dc0618b48a6a509" providerId="LiveId" clId="{EE01A5D1-C6B4-4292-9219-9A4244259DFB}" dt="2026-09-11T10:40:12.507" v="353" actId="20577"/>
          <ac:spMkLst>
            <pc:docMk/>
            <pc:sldMk cId="0" sldId="259"/>
            <ac:spMk id="16" creationId="{00000000-0000-0000-0000-000000000000}"/>
          </ac:spMkLst>
        </pc:spChg>
        <pc:spChg chg="del mod">
          <ac:chgData name="ABHINAV SHEKHAR" userId="0dc0618b48a6a509" providerId="LiveId" clId="{EE01A5D1-C6B4-4292-9219-9A4244259DFB}" dt="2026-09-11T10:39:44.103" v="321"/>
          <ac:spMkLst>
            <pc:docMk/>
            <pc:sldMk cId="0" sldId="259"/>
            <ac:spMk id="27" creationId="{00000000-0000-0000-0000-000000000000}"/>
          </ac:spMkLst>
        </pc:spChg>
        <pc:spChg chg="mod">
          <ac:chgData name="ABHINAV SHEKHAR" userId="0dc0618b48a6a509" providerId="LiveId" clId="{EE01A5D1-C6B4-4292-9219-9A4244259DFB}" dt="2026-09-11T10:40:09.379" v="352" actId="20577"/>
          <ac:spMkLst>
            <pc:docMk/>
            <pc:sldMk cId="0" sldId="259"/>
            <ac:spMk id="28" creationId="{00000000-0000-0000-0000-000000000000}"/>
          </ac:spMkLst>
        </pc:spChg>
        <pc:spChg chg="mod">
          <ac:chgData name="ABHINAV SHEKHAR" userId="0dc0618b48a6a509" providerId="LiveId" clId="{EE01A5D1-C6B4-4292-9219-9A4244259DFB}" dt="2026-09-11T10:40:30.627" v="377" actId="20577"/>
          <ac:spMkLst>
            <pc:docMk/>
            <pc:sldMk cId="0" sldId="259"/>
            <ac:spMk id="29" creationId="{00000000-0000-0000-0000-000000000000}"/>
          </ac:spMkLst>
        </pc:spChg>
        <pc:spChg chg="mod">
          <ac:chgData name="ABHINAV SHEKHAR" userId="0dc0618b48a6a509" providerId="LiveId" clId="{EE01A5D1-C6B4-4292-9219-9A4244259DFB}" dt="2026-09-11T10:41:16.313" v="436" actId="20577"/>
          <ac:spMkLst>
            <pc:docMk/>
            <pc:sldMk cId="0" sldId="259"/>
            <ac:spMk id="30" creationId="{00000000-0000-0000-0000-000000000000}"/>
          </ac:spMkLst>
        </pc:spChg>
        <pc:spChg chg="mod">
          <ac:chgData name="ABHINAV SHEKHAR" userId="0dc0618b48a6a509" providerId="LiveId" clId="{EE01A5D1-C6B4-4292-9219-9A4244259DFB}" dt="2026-09-11T10:39:19.707" v="317"/>
          <ac:spMkLst>
            <pc:docMk/>
            <pc:sldMk cId="0" sldId="259"/>
            <ac:spMk id="46" creationId="{0FCDCC33-A2EA-4A2A-558A-369DB45801CC}"/>
          </ac:spMkLst>
        </pc:spChg>
        <pc:spChg chg="mod">
          <ac:chgData name="ABHINAV SHEKHAR" userId="0dc0618b48a6a509" providerId="LiveId" clId="{EE01A5D1-C6B4-4292-9219-9A4244259DFB}" dt="2026-09-11T10:39:19.707" v="317"/>
          <ac:spMkLst>
            <pc:docMk/>
            <pc:sldMk cId="0" sldId="259"/>
            <ac:spMk id="49" creationId="{4F6F6814-8FF1-DFCD-C493-0C7BDAF78C51}"/>
          </ac:spMkLst>
        </pc:spChg>
        <pc:spChg chg="add mod">
          <ac:chgData name="ABHINAV SHEKHAR" userId="0dc0618b48a6a509" providerId="LiveId" clId="{EE01A5D1-C6B4-4292-9219-9A4244259DFB}" dt="2026-09-11T10:39:19.707" v="317"/>
          <ac:spMkLst>
            <pc:docMk/>
            <pc:sldMk cId="0" sldId="259"/>
            <ac:spMk id="50" creationId="{AAB4A260-AD6E-C367-79F8-56E540035359}"/>
          </ac:spMkLst>
        </pc:spChg>
        <pc:spChg chg="mod">
          <ac:chgData name="ABHINAV SHEKHAR" userId="0dc0618b48a6a509" providerId="LiveId" clId="{EE01A5D1-C6B4-4292-9219-9A4244259DFB}" dt="2026-09-11T10:39:19.707" v="317"/>
          <ac:spMkLst>
            <pc:docMk/>
            <pc:sldMk cId="0" sldId="259"/>
            <ac:spMk id="52" creationId="{79039D05-3EBB-05EF-19A3-90CCA59E3444}"/>
          </ac:spMkLst>
        </pc:spChg>
        <pc:spChg chg="add mod">
          <ac:chgData name="ABHINAV SHEKHAR" userId="0dc0618b48a6a509" providerId="LiveId" clId="{EE01A5D1-C6B4-4292-9219-9A4244259DFB}" dt="2026-09-11T10:39:40.785" v="319" actId="1076"/>
          <ac:spMkLst>
            <pc:docMk/>
            <pc:sldMk cId="0" sldId="259"/>
            <ac:spMk id="54" creationId="{5717C88B-0B1A-F49F-21E8-157F201D247D}"/>
          </ac:spMkLst>
        </pc:spChg>
        <pc:spChg chg="mod">
          <ac:chgData name="ABHINAV SHEKHAR" userId="0dc0618b48a6a509" providerId="LiveId" clId="{EE01A5D1-C6B4-4292-9219-9A4244259DFB}" dt="2026-09-11T10:39:19.707" v="317"/>
          <ac:spMkLst>
            <pc:docMk/>
            <pc:sldMk cId="0" sldId="259"/>
            <ac:spMk id="57" creationId="{9A384933-F4CB-C1C5-7FD2-4FB935F06850}"/>
          </ac:spMkLst>
        </pc:spChg>
        <pc:spChg chg="add mod">
          <ac:chgData name="ABHINAV SHEKHAR" userId="0dc0618b48a6a509" providerId="LiveId" clId="{EE01A5D1-C6B4-4292-9219-9A4244259DFB}" dt="2026-09-11T10:39:19.707" v="317"/>
          <ac:spMkLst>
            <pc:docMk/>
            <pc:sldMk cId="0" sldId="259"/>
            <ac:spMk id="58" creationId="{2BFB01D5-AEC5-D219-7F91-700E3C29B7D2}"/>
          </ac:spMkLst>
        </pc:spChg>
        <pc:spChg chg="mod">
          <ac:chgData name="ABHINAV SHEKHAR" userId="0dc0618b48a6a509" providerId="LiveId" clId="{EE01A5D1-C6B4-4292-9219-9A4244259DFB}" dt="2026-09-11T10:39:19.707" v="317"/>
          <ac:spMkLst>
            <pc:docMk/>
            <pc:sldMk cId="0" sldId="259"/>
            <ac:spMk id="60" creationId="{0159B5C8-D09B-A950-2009-83AF669F8842}"/>
          </ac:spMkLst>
        </pc:spChg>
        <pc:spChg chg="mod">
          <ac:chgData name="ABHINAV SHEKHAR" userId="0dc0618b48a6a509" providerId="LiveId" clId="{EE01A5D1-C6B4-4292-9219-9A4244259DFB}" dt="2026-09-11T10:39:19.707" v="317"/>
          <ac:spMkLst>
            <pc:docMk/>
            <pc:sldMk cId="0" sldId="259"/>
            <ac:spMk id="61" creationId="{3DC0D383-2E6B-00F0-79CE-4DC9FBE4BB74}"/>
          </ac:spMkLst>
        </pc:spChg>
        <pc:spChg chg="add mod">
          <ac:chgData name="ABHINAV SHEKHAR" userId="0dc0618b48a6a509" providerId="LiveId" clId="{EE01A5D1-C6B4-4292-9219-9A4244259DFB}" dt="2026-09-11T10:39:19.707" v="317"/>
          <ac:spMkLst>
            <pc:docMk/>
            <pc:sldMk cId="0" sldId="259"/>
            <ac:spMk id="62" creationId="{3D94C40F-4338-C848-28E8-6216B8560134}"/>
          </ac:spMkLst>
        </pc:spChg>
        <pc:grpChg chg="mod">
          <ac:chgData name="ABHINAV SHEKHAR" userId="0dc0618b48a6a509" providerId="LiveId" clId="{EE01A5D1-C6B4-4292-9219-9A4244259DFB}" dt="2026-09-11T10:39:34.265" v="318" actId="1076"/>
          <ac:grpSpMkLst>
            <pc:docMk/>
            <pc:sldMk cId="0" sldId="259"/>
            <ac:grpSpMk id="44" creationId="{D4EE706C-A377-1BC3-B415-D9FF7432FCC5}"/>
          </ac:grpSpMkLst>
        </pc:grpChg>
      </pc:sldChg>
      <pc:sldChg chg="modSp mod">
        <pc:chgData name="ABHINAV SHEKHAR" userId="0dc0618b48a6a509" providerId="LiveId" clId="{EE01A5D1-C6B4-4292-9219-9A4244259DFB}" dt="2026-09-11T11:00:03.667" v="1127" actId="1037"/>
        <pc:sldMkLst>
          <pc:docMk/>
          <pc:sldMk cId="0" sldId="260"/>
        </pc:sldMkLst>
        <pc:spChg chg="mod">
          <ac:chgData name="ABHINAV SHEKHAR" userId="0dc0618b48a6a509" providerId="LiveId" clId="{EE01A5D1-C6B4-4292-9219-9A4244259DFB}" dt="2026-09-11T11:00:03.667" v="1127" actId="1037"/>
          <ac:spMkLst>
            <pc:docMk/>
            <pc:sldMk cId="0" sldId="260"/>
            <ac:spMk id="2" creationId="{00000000-0000-0000-0000-000000000000}"/>
          </ac:spMkLst>
        </pc:spChg>
        <pc:spChg chg="mod">
          <ac:chgData name="ABHINAV SHEKHAR" userId="0dc0618b48a6a509" providerId="LiveId" clId="{EE01A5D1-C6B4-4292-9219-9A4244259DFB}" dt="2026-09-11T10:43:17.585" v="578" actId="20577"/>
          <ac:spMkLst>
            <pc:docMk/>
            <pc:sldMk cId="0" sldId="260"/>
            <ac:spMk id="8" creationId="{00000000-0000-0000-0000-000000000000}"/>
          </ac:spMkLst>
        </pc:spChg>
        <pc:spChg chg="mod">
          <ac:chgData name="ABHINAV SHEKHAR" userId="0dc0618b48a6a509" providerId="LiveId" clId="{EE01A5D1-C6B4-4292-9219-9A4244259DFB}" dt="2026-09-11T10:43:19.932" v="579" actId="20577"/>
          <ac:spMkLst>
            <pc:docMk/>
            <pc:sldMk cId="0" sldId="260"/>
            <ac:spMk id="10" creationId="{00000000-0000-0000-0000-000000000000}"/>
          </ac:spMkLst>
        </pc:spChg>
        <pc:spChg chg="mod">
          <ac:chgData name="ABHINAV SHEKHAR" userId="0dc0618b48a6a509" providerId="LiveId" clId="{EE01A5D1-C6B4-4292-9219-9A4244259DFB}" dt="2026-09-11T10:59:58.039" v="1123" actId="20577"/>
          <ac:spMkLst>
            <pc:docMk/>
            <pc:sldMk cId="0" sldId="260"/>
            <ac:spMk id="19" creationId="{00000000-0000-0000-0000-000000000000}"/>
          </ac:spMkLst>
        </pc:spChg>
        <pc:spChg chg="mod">
          <ac:chgData name="ABHINAV SHEKHAR" userId="0dc0618b48a6a509" providerId="LiveId" clId="{EE01A5D1-C6B4-4292-9219-9A4244259DFB}" dt="2026-09-11T10:44:39.845" v="716" actId="20577"/>
          <ac:spMkLst>
            <pc:docMk/>
            <pc:sldMk cId="0" sldId="260"/>
            <ac:spMk id="21" creationId="{00000000-0000-0000-0000-000000000000}"/>
          </ac:spMkLst>
        </pc:spChg>
        <pc:spChg chg="mod">
          <ac:chgData name="ABHINAV SHEKHAR" userId="0dc0618b48a6a509" providerId="LiveId" clId="{EE01A5D1-C6B4-4292-9219-9A4244259DFB}" dt="2026-09-11T10:45:43.923" v="733"/>
          <ac:spMkLst>
            <pc:docMk/>
            <pc:sldMk cId="0" sldId="260"/>
            <ac:spMk id="23" creationId="{00000000-0000-0000-0000-000000000000}"/>
          </ac:spMkLst>
        </pc:spChg>
      </pc:sldChg>
      <pc:sldChg chg="addSp delSp modSp mod">
        <pc:chgData name="ABHINAV SHEKHAR" userId="0dc0618b48a6a509" providerId="LiveId" clId="{EE01A5D1-C6B4-4292-9219-9A4244259DFB}" dt="2026-09-11T11:03:32.338" v="1182"/>
        <pc:sldMkLst>
          <pc:docMk/>
          <pc:sldMk cId="0" sldId="261"/>
        </pc:sldMkLst>
        <pc:spChg chg="mod">
          <ac:chgData name="ABHINAV SHEKHAR" userId="0dc0618b48a6a509" providerId="LiveId" clId="{EE01A5D1-C6B4-4292-9219-9A4244259DFB}" dt="2026-09-11T11:02:33.980" v="1169" actId="1076"/>
          <ac:spMkLst>
            <pc:docMk/>
            <pc:sldMk cId="0" sldId="261"/>
            <ac:spMk id="14" creationId="{00000000-0000-0000-0000-000000000000}"/>
          </ac:spMkLst>
        </pc:spChg>
        <pc:spChg chg="add del mod">
          <ac:chgData name="ABHINAV SHEKHAR" userId="0dc0618b48a6a509" providerId="LiveId" clId="{EE01A5D1-C6B4-4292-9219-9A4244259DFB}" dt="2026-09-11T11:01:33.191" v="1137" actId="404"/>
          <ac:spMkLst>
            <pc:docMk/>
            <pc:sldMk cId="0" sldId="261"/>
            <ac:spMk id="19" creationId="{00000000-0000-0000-0000-000000000000}"/>
          </ac:spMkLst>
        </pc:spChg>
        <pc:spChg chg="del mod">
          <ac:chgData name="ABHINAV SHEKHAR" userId="0dc0618b48a6a509" providerId="LiveId" clId="{EE01A5D1-C6B4-4292-9219-9A4244259DFB}" dt="2026-09-11T10:48:29.995" v="801"/>
          <ac:spMkLst>
            <pc:docMk/>
            <pc:sldMk cId="0" sldId="261"/>
            <ac:spMk id="21" creationId="{00000000-0000-0000-0000-000000000000}"/>
          </ac:spMkLst>
        </pc:spChg>
        <pc:spChg chg="mod">
          <ac:chgData name="ABHINAV SHEKHAR" userId="0dc0618b48a6a509" providerId="LiveId" clId="{EE01A5D1-C6B4-4292-9219-9A4244259DFB}" dt="2026-09-11T11:03:31.747" v="1180" actId="1076"/>
          <ac:spMkLst>
            <pc:docMk/>
            <pc:sldMk cId="0" sldId="261"/>
            <ac:spMk id="22" creationId="{00000000-0000-0000-0000-000000000000}"/>
          </ac:spMkLst>
        </pc:spChg>
        <pc:spChg chg="del mod">
          <ac:chgData name="ABHINAV SHEKHAR" userId="0dc0618b48a6a509" providerId="LiveId" clId="{EE01A5D1-C6B4-4292-9219-9A4244259DFB}" dt="2026-09-11T11:03:32.338" v="1182"/>
          <ac:spMkLst>
            <pc:docMk/>
            <pc:sldMk cId="0" sldId="261"/>
            <ac:spMk id="23" creationId="{00000000-0000-0000-0000-000000000000}"/>
          </ac:spMkLst>
        </pc:spChg>
        <pc:spChg chg="mod">
          <ac:chgData name="ABHINAV SHEKHAR" userId="0dc0618b48a6a509" providerId="LiveId" clId="{EE01A5D1-C6B4-4292-9219-9A4244259DFB}" dt="2026-09-11T10:47:39.319" v="790"/>
          <ac:spMkLst>
            <pc:docMk/>
            <pc:sldMk cId="0" sldId="261"/>
            <ac:spMk id="38" creationId="{B0C2FD24-B277-F7E3-C439-F840A5573232}"/>
          </ac:spMkLst>
        </pc:spChg>
        <pc:spChg chg="mod">
          <ac:chgData name="ABHINAV SHEKHAR" userId="0dc0618b48a6a509" providerId="LiveId" clId="{EE01A5D1-C6B4-4292-9219-9A4244259DFB}" dt="2026-09-11T10:47:39.319" v="790"/>
          <ac:spMkLst>
            <pc:docMk/>
            <pc:sldMk cId="0" sldId="261"/>
            <ac:spMk id="39" creationId="{BCDFA1A0-ECB1-81D2-FF5C-3D0DDE2A9DD3}"/>
          </ac:spMkLst>
        </pc:spChg>
        <pc:spChg chg="add del mod">
          <ac:chgData name="ABHINAV SHEKHAR" userId="0dc0618b48a6a509" providerId="LiveId" clId="{EE01A5D1-C6B4-4292-9219-9A4244259DFB}" dt="2026-09-11T10:48:29.995" v="799" actId="478"/>
          <ac:spMkLst>
            <pc:docMk/>
            <pc:sldMk cId="0" sldId="261"/>
            <ac:spMk id="40" creationId="{D0A03FB1-115C-DFA6-1586-AAE8DF7AA6E3}"/>
          </ac:spMkLst>
        </pc:spChg>
        <pc:spChg chg="mod">
          <ac:chgData name="ABHINAV SHEKHAR" userId="0dc0618b48a6a509" providerId="LiveId" clId="{EE01A5D1-C6B4-4292-9219-9A4244259DFB}" dt="2026-09-11T10:47:39.319" v="790"/>
          <ac:spMkLst>
            <pc:docMk/>
            <pc:sldMk cId="0" sldId="261"/>
            <ac:spMk id="42" creationId="{06F297D2-E93F-92EF-EF68-D2E4C2595918}"/>
          </ac:spMkLst>
        </pc:spChg>
        <pc:spChg chg="mod">
          <ac:chgData name="ABHINAV SHEKHAR" userId="0dc0618b48a6a509" providerId="LiveId" clId="{EE01A5D1-C6B4-4292-9219-9A4244259DFB}" dt="2026-09-11T10:47:39.319" v="790"/>
          <ac:spMkLst>
            <pc:docMk/>
            <pc:sldMk cId="0" sldId="261"/>
            <ac:spMk id="43" creationId="{383F52C9-1E08-1DC4-C34F-03734537857C}"/>
          </ac:spMkLst>
        </pc:spChg>
        <pc:spChg chg="add del mod">
          <ac:chgData name="ABHINAV SHEKHAR" userId="0dc0618b48a6a509" providerId="LiveId" clId="{EE01A5D1-C6B4-4292-9219-9A4244259DFB}" dt="2026-09-11T10:48:32.166" v="802" actId="478"/>
          <ac:spMkLst>
            <pc:docMk/>
            <pc:sldMk cId="0" sldId="261"/>
            <ac:spMk id="44" creationId="{68AD77EA-F90D-E1CF-13C4-099F8AA7367F}"/>
          </ac:spMkLst>
        </pc:spChg>
        <pc:spChg chg="mod">
          <ac:chgData name="ABHINAV SHEKHAR" userId="0dc0618b48a6a509" providerId="LiveId" clId="{EE01A5D1-C6B4-4292-9219-9A4244259DFB}" dt="2026-09-11T10:47:39.319" v="790"/>
          <ac:spMkLst>
            <pc:docMk/>
            <pc:sldMk cId="0" sldId="261"/>
            <ac:spMk id="46" creationId="{50D5C714-E87B-C86D-E3C2-616E88A16893}"/>
          </ac:spMkLst>
        </pc:spChg>
        <pc:spChg chg="mod">
          <ac:chgData name="ABHINAV SHEKHAR" userId="0dc0618b48a6a509" providerId="LiveId" clId="{EE01A5D1-C6B4-4292-9219-9A4244259DFB}" dt="2026-09-11T10:48:14.201" v="795" actId="1076"/>
          <ac:spMkLst>
            <pc:docMk/>
            <pc:sldMk cId="0" sldId="261"/>
            <ac:spMk id="47" creationId="{1F9103A4-845A-C11F-F1BC-4AD5F8842BEF}"/>
          </ac:spMkLst>
        </pc:spChg>
        <pc:grpChg chg="add mod">
          <ac:chgData name="ABHINAV SHEKHAR" userId="0dc0618b48a6a509" providerId="LiveId" clId="{EE01A5D1-C6B4-4292-9219-9A4244259DFB}" dt="2026-09-11T10:48:27.799" v="798" actId="1076"/>
          <ac:grpSpMkLst>
            <pc:docMk/>
            <pc:sldMk cId="0" sldId="261"/>
            <ac:grpSpMk id="37" creationId="{7633CB27-CE93-08B3-99E4-D4DCACB2BCBA}"/>
          </ac:grpSpMkLst>
        </pc:grpChg>
        <pc:grpChg chg="add mod">
          <ac:chgData name="ABHINAV SHEKHAR" userId="0dc0618b48a6a509" providerId="LiveId" clId="{EE01A5D1-C6B4-4292-9219-9A4244259DFB}" dt="2026-09-11T11:00:24.778" v="1130" actId="1076"/>
          <ac:grpSpMkLst>
            <pc:docMk/>
            <pc:sldMk cId="0" sldId="261"/>
            <ac:grpSpMk id="41" creationId="{19BFE390-9E86-F004-564E-61E4CE4B7A95}"/>
          </ac:grpSpMkLst>
        </pc:grpChg>
        <pc:grpChg chg="mod">
          <ac:chgData name="ABHINAV SHEKHAR" userId="0dc0618b48a6a509" providerId="LiveId" clId="{EE01A5D1-C6B4-4292-9219-9A4244259DFB}" dt="2026-09-11T11:00:19.337" v="1129" actId="1076"/>
          <ac:grpSpMkLst>
            <pc:docMk/>
            <pc:sldMk cId="0" sldId="261"/>
            <ac:grpSpMk id="45" creationId="{AAAB3C75-A280-0FC4-1117-588BE661CB5D}"/>
          </ac:grpSpMkLst>
        </pc:grpChg>
      </pc:sldChg>
      <pc:sldChg chg="modSp mod">
        <pc:chgData name="ABHINAV SHEKHAR" userId="0dc0618b48a6a509" providerId="LiveId" clId="{EE01A5D1-C6B4-4292-9219-9A4244259DFB}" dt="2026-09-11T10:58:32.677" v="1044" actId="404"/>
        <pc:sldMkLst>
          <pc:docMk/>
          <pc:sldMk cId="0" sldId="262"/>
        </pc:sldMkLst>
        <pc:spChg chg="mod">
          <ac:chgData name="ABHINAV SHEKHAR" userId="0dc0618b48a6a509" providerId="LiveId" clId="{EE01A5D1-C6B4-4292-9219-9A4244259DFB}" dt="2026-09-11T10:55:01.186" v="862" actId="207"/>
          <ac:spMkLst>
            <pc:docMk/>
            <pc:sldMk cId="0" sldId="262"/>
            <ac:spMk id="19" creationId="{00000000-0000-0000-0000-000000000000}"/>
          </ac:spMkLst>
        </pc:spChg>
        <pc:spChg chg="mod">
          <ac:chgData name="ABHINAV SHEKHAR" userId="0dc0618b48a6a509" providerId="LiveId" clId="{EE01A5D1-C6B4-4292-9219-9A4244259DFB}" dt="2026-09-11T10:55:33.820" v="866" actId="1076"/>
          <ac:spMkLst>
            <pc:docMk/>
            <pc:sldMk cId="0" sldId="262"/>
            <ac:spMk id="21" creationId="{00000000-0000-0000-0000-000000000000}"/>
          </ac:spMkLst>
        </pc:spChg>
        <pc:spChg chg="mod">
          <ac:chgData name="ABHINAV SHEKHAR" userId="0dc0618b48a6a509" providerId="LiveId" clId="{EE01A5D1-C6B4-4292-9219-9A4244259DFB}" dt="2026-09-11T10:58:32.677" v="1044" actId="404"/>
          <ac:spMkLst>
            <pc:docMk/>
            <pc:sldMk cId="0" sldId="262"/>
            <ac:spMk id="23" creationId="{00000000-0000-0000-0000-000000000000}"/>
          </ac:spMkLst>
        </pc:spChg>
        <pc:grpChg chg="mod">
          <ac:chgData name="ABHINAV SHEKHAR" userId="0dc0618b48a6a509" providerId="LiveId" clId="{EE01A5D1-C6B4-4292-9219-9A4244259DFB}" dt="2026-09-11T10:53:12.540" v="849" actId="1076"/>
          <ac:grpSpMkLst>
            <pc:docMk/>
            <pc:sldMk cId="0" sldId="262"/>
            <ac:grpSpMk id="9" creationId="{00000000-0000-0000-0000-000000000000}"/>
          </ac:grpSpMkLst>
        </pc:grpChg>
        <pc:grpChg chg="mod">
          <ac:chgData name="ABHINAV SHEKHAR" userId="0dc0618b48a6a509" providerId="LiveId" clId="{EE01A5D1-C6B4-4292-9219-9A4244259DFB}" dt="2026-09-11T10:55:19.778" v="863" actId="1076"/>
          <ac:grpSpMkLst>
            <pc:docMk/>
            <pc:sldMk cId="0" sldId="262"/>
            <ac:grpSpMk id="11" creationId="{00000000-0000-0000-0000-000000000000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hyperlink" Target="mailto:Abhinav.skekhar2026@vitstudent.ac.in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6" b="-26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302297" cy="82363"/>
            <a:chOff x="0" y="0"/>
            <a:chExt cx="24403063" cy="10981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403050" cy="109855"/>
            </a:xfrm>
            <a:custGeom>
              <a:avLst/>
              <a:gdLst/>
              <a:ahLst/>
              <a:cxnLst/>
              <a:rect l="l" t="t" r="r" b="b"/>
              <a:pathLst>
                <a:path w="24403050" h="109855">
                  <a:moveTo>
                    <a:pt x="0" y="0"/>
                  </a:moveTo>
                  <a:lnTo>
                    <a:pt x="24403050" y="0"/>
                  </a:lnTo>
                  <a:lnTo>
                    <a:pt x="24403050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2AC976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0" y="10185225"/>
            <a:ext cx="18302297" cy="109814"/>
            <a:chOff x="0" y="0"/>
            <a:chExt cx="24403063" cy="14641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403050" cy="146431"/>
            </a:xfrm>
            <a:custGeom>
              <a:avLst/>
              <a:gdLst/>
              <a:ahLst/>
              <a:cxnLst/>
              <a:rect l="l" t="t" r="r" b="b"/>
              <a:pathLst>
                <a:path w="24403050" h="146431">
                  <a:moveTo>
                    <a:pt x="0" y="0"/>
                  </a:moveTo>
                  <a:lnTo>
                    <a:pt x="24403050" y="0"/>
                  </a:lnTo>
                  <a:lnTo>
                    <a:pt x="24403050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278DD6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926268" y="6513043"/>
            <a:ext cx="4132316" cy="1455601"/>
            <a:chOff x="0" y="0"/>
            <a:chExt cx="5509755" cy="194080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509768" cy="1940814"/>
            </a:xfrm>
            <a:custGeom>
              <a:avLst/>
              <a:gdLst/>
              <a:ahLst/>
              <a:cxnLst/>
              <a:rect l="l" t="t" r="r" b="b"/>
              <a:pathLst>
                <a:path w="5509768" h="1940814">
                  <a:moveTo>
                    <a:pt x="0" y="323469"/>
                  </a:moveTo>
                  <a:cubicBezTo>
                    <a:pt x="0" y="144780"/>
                    <a:pt x="144780" y="0"/>
                    <a:pt x="323469" y="0"/>
                  </a:cubicBezTo>
                  <a:lnTo>
                    <a:pt x="5186299" y="0"/>
                  </a:lnTo>
                  <a:cubicBezTo>
                    <a:pt x="5364988" y="0"/>
                    <a:pt x="5509768" y="144780"/>
                    <a:pt x="5509768" y="323469"/>
                  </a:cubicBezTo>
                  <a:lnTo>
                    <a:pt x="5509768" y="1617345"/>
                  </a:lnTo>
                  <a:cubicBezTo>
                    <a:pt x="5509768" y="1796034"/>
                    <a:pt x="5364988" y="1940814"/>
                    <a:pt x="5186299" y="1940814"/>
                  </a:cubicBezTo>
                  <a:lnTo>
                    <a:pt x="323469" y="1940814"/>
                  </a:lnTo>
                  <a:cubicBezTo>
                    <a:pt x="144780" y="1940814"/>
                    <a:pt x="0" y="1796034"/>
                    <a:pt x="0" y="1617345"/>
                  </a:cubicBezTo>
                  <a:close/>
                </a:path>
              </a:pathLst>
            </a:custGeom>
            <a:solidFill>
              <a:srgbClr val="12273B"/>
            </a:solidFill>
            <a:ln w="14299" cap="sq">
              <a:solidFill>
                <a:srgbClr val="304F67"/>
              </a:solidFill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689444" y="6513043"/>
            <a:ext cx="4818650" cy="1455601"/>
            <a:chOff x="0" y="0"/>
            <a:chExt cx="6424866" cy="194080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424803" cy="1940814"/>
            </a:xfrm>
            <a:custGeom>
              <a:avLst/>
              <a:gdLst/>
              <a:ahLst/>
              <a:cxnLst/>
              <a:rect l="l" t="t" r="r" b="b"/>
              <a:pathLst>
                <a:path w="6424803" h="1940814">
                  <a:moveTo>
                    <a:pt x="0" y="323469"/>
                  </a:moveTo>
                  <a:cubicBezTo>
                    <a:pt x="0" y="144780"/>
                    <a:pt x="144780" y="0"/>
                    <a:pt x="323469" y="0"/>
                  </a:cubicBezTo>
                  <a:lnTo>
                    <a:pt x="6101334" y="0"/>
                  </a:lnTo>
                  <a:cubicBezTo>
                    <a:pt x="6280023" y="0"/>
                    <a:pt x="6424803" y="144780"/>
                    <a:pt x="6424803" y="323469"/>
                  </a:cubicBezTo>
                  <a:lnTo>
                    <a:pt x="6424803" y="1617345"/>
                  </a:lnTo>
                  <a:cubicBezTo>
                    <a:pt x="6424803" y="1796034"/>
                    <a:pt x="6280023" y="1940814"/>
                    <a:pt x="6101334" y="1940814"/>
                  </a:cubicBezTo>
                  <a:lnTo>
                    <a:pt x="323469" y="1940814"/>
                  </a:lnTo>
                  <a:cubicBezTo>
                    <a:pt x="144780" y="1940814"/>
                    <a:pt x="0" y="1796034"/>
                    <a:pt x="0" y="1617345"/>
                  </a:cubicBezTo>
                  <a:close/>
                </a:path>
              </a:pathLst>
            </a:custGeom>
            <a:solidFill>
              <a:srgbClr val="12273B"/>
            </a:solidFill>
            <a:ln w="14299" cap="sq">
              <a:solidFill>
                <a:srgbClr val="304F67"/>
              </a:solidFill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111494" y="6513043"/>
            <a:ext cx="4132316" cy="1455601"/>
            <a:chOff x="0" y="0"/>
            <a:chExt cx="5509755" cy="194080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509768" cy="1940814"/>
            </a:xfrm>
            <a:custGeom>
              <a:avLst/>
              <a:gdLst/>
              <a:ahLst/>
              <a:cxnLst/>
              <a:rect l="l" t="t" r="r" b="b"/>
              <a:pathLst>
                <a:path w="5509768" h="1940814">
                  <a:moveTo>
                    <a:pt x="0" y="323469"/>
                  </a:moveTo>
                  <a:cubicBezTo>
                    <a:pt x="0" y="144780"/>
                    <a:pt x="144780" y="0"/>
                    <a:pt x="323469" y="0"/>
                  </a:cubicBezTo>
                  <a:lnTo>
                    <a:pt x="5186299" y="0"/>
                  </a:lnTo>
                  <a:cubicBezTo>
                    <a:pt x="5364988" y="0"/>
                    <a:pt x="5509768" y="144780"/>
                    <a:pt x="5509768" y="323469"/>
                  </a:cubicBezTo>
                  <a:lnTo>
                    <a:pt x="5509768" y="1617345"/>
                  </a:lnTo>
                  <a:cubicBezTo>
                    <a:pt x="5509768" y="1796034"/>
                    <a:pt x="5364988" y="1940814"/>
                    <a:pt x="5186299" y="1940814"/>
                  </a:cubicBezTo>
                  <a:lnTo>
                    <a:pt x="323469" y="1940814"/>
                  </a:lnTo>
                  <a:cubicBezTo>
                    <a:pt x="144780" y="1940814"/>
                    <a:pt x="0" y="1796034"/>
                    <a:pt x="0" y="1617345"/>
                  </a:cubicBezTo>
                  <a:close/>
                </a:path>
              </a:pathLst>
            </a:custGeom>
            <a:solidFill>
              <a:srgbClr val="12273B"/>
            </a:solidFill>
            <a:ln w="14299" cap="sq">
              <a:solidFill>
                <a:srgbClr val="304F67"/>
              </a:solidFill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617706" y="9471441"/>
            <a:ext cx="17062313" cy="20593"/>
            <a:chOff x="0" y="0"/>
            <a:chExt cx="22749751" cy="2745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749763" cy="27432"/>
            </a:xfrm>
            <a:custGeom>
              <a:avLst/>
              <a:gdLst/>
              <a:ahLst/>
              <a:cxnLst/>
              <a:rect l="l" t="t" r="r" b="b"/>
              <a:pathLst>
                <a:path w="22749763" h="27432">
                  <a:moveTo>
                    <a:pt x="0" y="0"/>
                  </a:moveTo>
                  <a:lnTo>
                    <a:pt x="22749763" y="0"/>
                  </a:lnTo>
                  <a:lnTo>
                    <a:pt x="22749763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304F67"/>
            </a:solidFill>
          </p:spPr>
        </p:sp>
      </p:grpSp>
      <p:sp>
        <p:nvSpPr>
          <p:cNvPr id="15" name="Freeform 15"/>
          <p:cNvSpPr/>
          <p:nvPr/>
        </p:nvSpPr>
        <p:spPr>
          <a:xfrm>
            <a:off x="512691" y="-8049"/>
            <a:ext cx="2276856" cy="1955414"/>
          </a:xfrm>
          <a:custGeom>
            <a:avLst/>
            <a:gdLst/>
            <a:ahLst/>
            <a:cxnLst/>
            <a:rect l="l" t="t" r="r" b="b"/>
            <a:pathLst>
              <a:path w="2276856" h="1955414">
                <a:moveTo>
                  <a:pt x="0" y="0"/>
                </a:moveTo>
                <a:lnTo>
                  <a:pt x="2276856" y="0"/>
                </a:lnTo>
                <a:lnTo>
                  <a:pt x="2276856" y="1955414"/>
                </a:lnTo>
                <a:lnTo>
                  <a:pt x="0" y="19554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57646" b="-100000"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3891143" y="9525"/>
            <a:ext cx="2059249" cy="2186645"/>
          </a:xfrm>
          <a:custGeom>
            <a:avLst/>
            <a:gdLst/>
            <a:ahLst/>
            <a:cxnLst/>
            <a:rect l="l" t="t" r="r" b="b"/>
            <a:pathLst>
              <a:path w="2059249" h="2186645">
                <a:moveTo>
                  <a:pt x="0" y="0"/>
                </a:moveTo>
                <a:lnTo>
                  <a:pt x="2059249" y="0"/>
                </a:lnTo>
                <a:lnTo>
                  <a:pt x="2059249" y="2186645"/>
                </a:lnTo>
                <a:lnTo>
                  <a:pt x="0" y="21866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98791" b="-87588"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5603719" y="336157"/>
            <a:ext cx="2016514" cy="1935237"/>
          </a:xfrm>
          <a:custGeom>
            <a:avLst/>
            <a:gdLst/>
            <a:ahLst/>
            <a:cxnLst/>
            <a:rect l="l" t="t" r="r" b="b"/>
            <a:pathLst>
              <a:path w="2016514" h="1935237">
                <a:moveTo>
                  <a:pt x="0" y="0"/>
                </a:moveTo>
                <a:lnTo>
                  <a:pt x="2016514" y="0"/>
                </a:lnTo>
                <a:lnTo>
                  <a:pt x="2016514" y="1935238"/>
                </a:lnTo>
                <a:lnTo>
                  <a:pt x="0" y="19352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09871" r="-202118"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0837545" y="71434"/>
            <a:ext cx="3650548" cy="2464684"/>
          </a:xfrm>
          <a:custGeom>
            <a:avLst/>
            <a:gdLst/>
            <a:ahLst/>
            <a:cxnLst/>
            <a:rect l="l" t="t" r="r" b="b"/>
            <a:pathLst>
              <a:path w="3650548" h="2464684">
                <a:moveTo>
                  <a:pt x="0" y="0"/>
                </a:moveTo>
                <a:lnTo>
                  <a:pt x="3650547" y="0"/>
                </a:lnTo>
                <a:lnTo>
                  <a:pt x="3650547" y="2464684"/>
                </a:lnTo>
                <a:lnTo>
                  <a:pt x="0" y="2464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8505" t="-153689" r="-87488" b="-18834"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6192765" y="336157"/>
            <a:ext cx="1794017" cy="1957095"/>
          </a:xfrm>
          <a:custGeom>
            <a:avLst/>
            <a:gdLst/>
            <a:ahLst/>
            <a:cxnLst/>
            <a:rect l="l" t="t" r="r" b="b"/>
            <a:pathLst>
              <a:path w="1794017" h="1957095">
                <a:moveTo>
                  <a:pt x="0" y="0"/>
                </a:moveTo>
                <a:lnTo>
                  <a:pt x="1794018" y="0"/>
                </a:lnTo>
                <a:lnTo>
                  <a:pt x="1794018" y="1957095"/>
                </a:lnTo>
                <a:lnTo>
                  <a:pt x="0" y="19570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55724" t="-115126" r="-9421" b="-8019"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5172677" y="8504960"/>
            <a:ext cx="2499393" cy="833131"/>
          </a:xfrm>
          <a:custGeom>
            <a:avLst/>
            <a:gdLst/>
            <a:ahLst/>
            <a:cxnLst/>
            <a:rect l="l" t="t" r="r" b="b"/>
            <a:pathLst>
              <a:path w="2499393" h="833131">
                <a:moveTo>
                  <a:pt x="0" y="0"/>
                </a:moveTo>
                <a:lnTo>
                  <a:pt x="2499393" y="0"/>
                </a:lnTo>
                <a:lnTo>
                  <a:pt x="2499393" y="833131"/>
                </a:lnTo>
                <a:lnTo>
                  <a:pt x="0" y="8331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21" name="Group 21"/>
          <p:cNvGrpSpPr/>
          <p:nvPr/>
        </p:nvGrpSpPr>
        <p:grpSpPr>
          <a:xfrm>
            <a:off x="14650017" y="631433"/>
            <a:ext cx="1312757" cy="1312757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1"/>
                </a:lnSpc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15016504" y="865339"/>
            <a:ext cx="681540" cy="844946"/>
          </a:xfrm>
          <a:custGeom>
            <a:avLst/>
            <a:gdLst/>
            <a:ahLst/>
            <a:cxnLst/>
            <a:rect l="l" t="t" r="r" b="b"/>
            <a:pathLst>
              <a:path w="681540" h="844946">
                <a:moveTo>
                  <a:pt x="0" y="0"/>
                </a:moveTo>
                <a:lnTo>
                  <a:pt x="681540" y="0"/>
                </a:lnTo>
                <a:lnTo>
                  <a:pt x="681540" y="844946"/>
                </a:lnTo>
                <a:lnTo>
                  <a:pt x="0" y="8449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519879"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2685759" y="420802"/>
            <a:ext cx="1264569" cy="1422171"/>
          </a:xfrm>
          <a:custGeom>
            <a:avLst/>
            <a:gdLst/>
            <a:ahLst/>
            <a:cxnLst/>
            <a:rect l="l" t="t" r="r" b="b"/>
            <a:pathLst>
              <a:path w="1264569" h="1422171">
                <a:moveTo>
                  <a:pt x="0" y="0"/>
                </a:moveTo>
                <a:lnTo>
                  <a:pt x="1264569" y="0"/>
                </a:lnTo>
                <a:lnTo>
                  <a:pt x="1264569" y="1422171"/>
                </a:lnTo>
                <a:lnTo>
                  <a:pt x="0" y="14221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960588" y="2369242"/>
            <a:ext cx="16151924" cy="2724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5704" b="1" dirty="0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SOLOMED</a:t>
            </a:r>
          </a:p>
          <a:p>
            <a:r>
              <a:rPr lang="en-US" sz="6000" b="1" dirty="0">
                <a:solidFill>
                  <a:srgbClr val="F8FAFC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AI-Powered Smart Clinic &amp; </a:t>
            </a:r>
          </a:p>
          <a:p>
            <a:r>
              <a:rPr lang="en-US" sz="6000" b="1" dirty="0">
                <a:solidFill>
                  <a:srgbClr val="F8FAFC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Diagnostic Assistant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26268" y="5326187"/>
            <a:ext cx="14641982" cy="697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33"/>
              </a:lnSpc>
            </a:pPr>
            <a:r>
              <a:rPr lang="en-US" sz="2800" dirty="0">
                <a:solidFill>
                  <a:srgbClr val="A7B4C7"/>
                </a:solidFill>
                <a:latin typeface="IBM Plex Sans"/>
                <a:ea typeface="IBM Plex Sans"/>
                <a:cs typeface="IBM Plex Sans"/>
                <a:sym typeface="IBM Plex Sans"/>
              </a:rPr>
              <a:t>A diagnostic assistant that connects physical telemetry, hospital workflows and explainable edge AI.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26842" y="6784419"/>
            <a:ext cx="3660600" cy="280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1">
                <a:solidFill>
                  <a:srgbClr val="2AC97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TEAM NAME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26842" y="7214149"/>
            <a:ext cx="4072404" cy="272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dirty="0">
                <a:solidFill>
                  <a:srgbClr val="F5F7FA"/>
                </a:solidFill>
                <a:latin typeface="Calibri (MS)"/>
                <a:ea typeface="Calibri (MS)"/>
                <a:cs typeface="Calibri (MS)"/>
                <a:sym typeface="Calibri (MS)"/>
              </a:rPr>
              <a:t>SOLOMED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090018" y="6784419"/>
            <a:ext cx="3660600" cy="280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1">
                <a:solidFill>
                  <a:srgbClr val="2AC97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TRACK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090018" y="7214149"/>
            <a:ext cx="4072404" cy="272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dirty="0">
                <a:solidFill>
                  <a:srgbClr val="F5F7FA"/>
                </a:solidFill>
                <a:latin typeface="Calibri (MS)"/>
                <a:ea typeface="Calibri (MS)"/>
                <a:cs typeface="Calibri (MS)"/>
                <a:sym typeface="Calibri (MS)"/>
              </a:rPr>
              <a:t>Open Innovation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512077" y="6784419"/>
            <a:ext cx="3660600" cy="280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1">
                <a:solidFill>
                  <a:srgbClr val="2AC97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COLLEGE / ORGANIZATION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512077" y="7214149"/>
            <a:ext cx="4072404" cy="272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dirty="0">
                <a:solidFill>
                  <a:srgbClr val="F5F7FA"/>
                </a:solidFill>
                <a:latin typeface="Calibri (MS)"/>
                <a:ea typeface="Calibri (MS)"/>
                <a:cs typeface="Calibri (MS)"/>
                <a:sym typeface="Calibri (MS)"/>
              </a:rPr>
              <a:t>VIT CHENNAI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83675" y="8416319"/>
            <a:ext cx="15602855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1">
                <a:solidFill>
                  <a:srgbClr val="278DD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VMEDITHON 3.0  |  VIT CHENNAI  |  SEPTEMBER 15~16, 2026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77773" y="9672352"/>
            <a:ext cx="13543845" cy="261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B1C0CD"/>
                </a:solidFill>
                <a:latin typeface="Aptos"/>
                <a:ea typeface="Aptos"/>
                <a:cs typeface="Aptos"/>
                <a:sym typeface="Aptos"/>
              </a:rPr>
              <a:t>VMEDITHON 3.0  •  HACKATHON &amp; BUILDATHON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6838047" y="9626975"/>
            <a:ext cx="503453" cy="320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1">
                <a:solidFill>
                  <a:srgbClr val="2AC976"/>
                </a:solidFill>
                <a:latin typeface="Aptos Bold"/>
                <a:ea typeface="Aptos Bold"/>
                <a:cs typeface="Aptos Bold"/>
                <a:sym typeface="Aptos Bold"/>
              </a:rPr>
              <a:t>1/7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351107" y="672521"/>
            <a:ext cx="3600082" cy="1192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3"/>
              </a:lnSpc>
            </a:pPr>
            <a:r>
              <a:rPr lang="en-US" sz="227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School of Computer Science &amp; Engineering</a:t>
            </a:r>
          </a:p>
          <a:p>
            <a:pPr algn="ctr">
              <a:lnSpc>
                <a:spcPts val="3183"/>
              </a:lnSpc>
            </a:pPr>
            <a:r>
              <a:rPr lang="en-US" sz="227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(SCOPE)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6" b="-26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302297" cy="82363"/>
            <a:chOff x="0" y="0"/>
            <a:chExt cx="24403063" cy="10981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403050" cy="109855"/>
            </a:xfrm>
            <a:custGeom>
              <a:avLst/>
              <a:gdLst/>
              <a:ahLst/>
              <a:cxnLst/>
              <a:rect l="l" t="t" r="r" b="b"/>
              <a:pathLst>
                <a:path w="24403050" h="109855">
                  <a:moveTo>
                    <a:pt x="0" y="0"/>
                  </a:moveTo>
                  <a:lnTo>
                    <a:pt x="24403050" y="0"/>
                  </a:lnTo>
                  <a:lnTo>
                    <a:pt x="24403050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2AC976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0" y="10185225"/>
            <a:ext cx="18302297" cy="109814"/>
            <a:chOff x="0" y="0"/>
            <a:chExt cx="24403063" cy="14641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403050" cy="146431"/>
            </a:xfrm>
            <a:custGeom>
              <a:avLst/>
              <a:gdLst/>
              <a:ahLst/>
              <a:cxnLst/>
              <a:rect l="l" t="t" r="r" b="b"/>
              <a:pathLst>
                <a:path w="24403050" h="146431">
                  <a:moveTo>
                    <a:pt x="0" y="0"/>
                  </a:moveTo>
                  <a:lnTo>
                    <a:pt x="24403050" y="0"/>
                  </a:lnTo>
                  <a:lnTo>
                    <a:pt x="24403050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278DD6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617706" y="9471441"/>
            <a:ext cx="17062313" cy="20593"/>
            <a:chOff x="0" y="0"/>
            <a:chExt cx="22749751" cy="2745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749763" cy="27432"/>
            </a:xfrm>
            <a:custGeom>
              <a:avLst/>
              <a:gdLst/>
              <a:ahLst/>
              <a:cxnLst/>
              <a:rect l="l" t="t" r="r" b="b"/>
              <a:pathLst>
                <a:path w="22749763" h="27432">
                  <a:moveTo>
                    <a:pt x="0" y="0"/>
                  </a:moveTo>
                  <a:lnTo>
                    <a:pt x="22749763" y="0"/>
                  </a:lnTo>
                  <a:lnTo>
                    <a:pt x="22749763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304F67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846411" y="2224068"/>
            <a:ext cx="16151924" cy="859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1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01. PROBLEM STATEMENT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87587" y="3065602"/>
            <a:ext cx="15602855" cy="526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B1C0CD"/>
                </a:solidFill>
                <a:latin typeface="Aptos"/>
                <a:ea typeface="Aptos"/>
                <a:cs typeface="Aptos"/>
                <a:sym typeface="Aptos"/>
              </a:rPr>
              <a:t>Define the healthcare or engineering challenge your team is solving.</a:t>
            </a:r>
          </a:p>
        </p:txBody>
      </p:sp>
      <p:sp>
        <p:nvSpPr>
          <p:cNvPr id="11" name="Freeform 11"/>
          <p:cNvSpPr/>
          <p:nvPr/>
        </p:nvSpPr>
        <p:spPr>
          <a:xfrm>
            <a:off x="14759907" y="2411188"/>
            <a:ext cx="2499393" cy="833131"/>
          </a:xfrm>
          <a:custGeom>
            <a:avLst/>
            <a:gdLst/>
            <a:ahLst/>
            <a:cxnLst/>
            <a:rect l="l" t="t" r="r" b="b"/>
            <a:pathLst>
              <a:path w="2499393" h="833131">
                <a:moveTo>
                  <a:pt x="0" y="0"/>
                </a:moveTo>
                <a:lnTo>
                  <a:pt x="2499393" y="0"/>
                </a:lnTo>
                <a:lnTo>
                  <a:pt x="2499393" y="833131"/>
                </a:lnTo>
                <a:lnTo>
                  <a:pt x="0" y="8331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846411" y="3810943"/>
            <a:ext cx="7842604" cy="4915052"/>
            <a:chOff x="0" y="0"/>
            <a:chExt cx="2065542" cy="129449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065542" cy="1294499"/>
            </a:xfrm>
            <a:custGeom>
              <a:avLst/>
              <a:gdLst/>
              <a:ahLst/>
              <a:cxnLst/>
              <a:rect l="l" t="t" r="r" b="b"/>
              <a:pathLst>
                <a:path w="2065542" h="1294499">
                  <a:moveTo>
                    <a:pt x="51332" y="0"/>
                  </a:moveTo>
                  <a:lnTo>
                    <a:pt x="2014209" y="0"/>
                  </a:lnTo>
                  <a:cubicBezTo>
                    <a:pt x="2027824" y="0"/>
                    <a:pt x="2040880" y="5408"/>
                    <a:pt x="2050507" y="15035"/>
                  </a:cubicBezTo>
                  <a:cubicBezTo>
                    <a:pt x="2060134" y="24662"/>
                    <a:pt x="2065542" y="37718"/>
                    <a:pt x="2065542" y="51332"/>
                  </a:cubicBezTo>
                  <a:lnTo>
                    <a:pt x="2065542" y="1243167"/>
                  </a:lnTo>
                  <a:cubicBezTo>
                    <a:pt x="2065542" y="1256781"/>
                    <a:pt x="2060134" y="1269838"/>
                    <a:pt x="2050507" y="1279464"/>
                  </a:cubicBezTo>
                  <a:cubicBezTo>
                    <a:pt x="2040880" y="1289091"/>
                    <a:pt x="2027824" y="1294499"/>
                    <a:pt x="2014209" y="1294499"/>
                  </a:cubicBezTo>
                  <a:lnTo>
                    <a:pt x="51332" y="1294499"/>
                  </a:lnTo>
                  <a:cubicBezTo>
                    <a:pt x="37718" y="1294499"/>
                    <a:pt x="24662" y="1289091"/>
                    <a:pt x="15035" y="1279464"/>
                  </a:cubicBezTo>
                  <a:cubicBezTo>
                    <a:pt x="5408" y="1269838"/>
                    <a:pt x="0" y="1256781"/>
                    <a:pt x="0" y="1243167"/>
                  </a:cubicBezTo>
                  <a:lnTo>
                    <a:pt x="0" y="51332"/>
                  </a:lnTo>
                  <a:cubicBezTo>
                    <a:pt x="0" y="37718"/>
                    <a:pt x="5408" y="24662"/>
                    <a:pt x="15035" y="15035"/>
                  </a:cubicBezTo>
                  <a:cubicBezTo>
                    <a:pt x="24662" y="5408"/>
                    <a:pt x="37718" y="0"/>
                    <a:pt x="51332" y="0"/>
                  </a:cubicBezTo>
                  <a:close/>
                </a:path>
              </a:pathLst>
            </a:custGeom>
            <a:solidFill>
              <a:srgbClr val="12273B"/>
            </a:solidFill>
            <a:ln w="38100" cap="rnd">
              <a:solidFill>
                <a:srgbClr val="304F67"/>
              </a:solidFill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2065542" cy="12944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1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352093" y="3849043"/>
            <a:ext cx="8117834" cy="2280130"/>
            <a:chOff x="0" y="0"/>
            <a:chExt cx="2138030" cy="60052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138030" cy="600528"/>
            </a:xfrm>
            <a:custGeom>
              <a:avLst/>
              <a:gdLst/>
              <a:ahLst/>
              <a:cxnLst/>
              <a:rect l="l" t="t" r="r" b="b"/>
              <a:pathLst>
                <a:path w="2138030" h="600528">
                  <a:moveTo>
                    <a:pt x="54360" y="0"/>
                  </a:moveTo>
                  <a:lnTo>
                    <a:pt x="2083670" y="0"/>
                  </a:lnTo>
                  <a:cubicBezTo>
                    <a:pt x="2098087" y="0"/>
                    <a:pt x="2111914" y="5727"/>
                    <a:pt x="2122108" y="15922"/>
                  </a:cubicBezTo>
                  <a:cubicBezTo>
                    <a:pt x="2132303" y="26116"/>
                    <a:pt x="2138030" y="39943"/>
                    <a:pt x="2138030" y="54360"/>
                  </a:cubicBezTo>
                  <a:lnTo>
                    <a:pt x="2138030" y="546168"/>
                  </a:lnTo>
                  <a:cubicBezTo>
                    <a:pt x="2138030" y="576190"/>
                    <a:pt x="2113692" y="600528"/>
                    <a:pt x="2083670" y="600528"/>
                  </a:cubicBezTo>
                  <a:lnTo>
                    <a:pt x="54360" y="600528"/>
                  </a:lnTo>
                  <a:cubicBezTo>
                    <a:pt x="24338" y="600528"/>
                    <a:pt x="0" y="576190"/>
                    <a:pt x="0" y="546168"/>
                  </a:cubicBezTo>
                  <a:lnTo>
                    <a:pt x="0" y="54360"/>
                  </a:lnTo>
                  <a:cubicBezTo>
                    <a:pt x="0" y="24338"/>
                    <a:pt x="24338" y="0"/>
                    <a:pt x="54360" y="0"/>
                  </a:cubicBezTo>
                  <a:close/>
                </a:path>
              </a:pathLst>
            </a:custGeom>
            <a:solidFill>
              <a:srgbClr val="12273B"/>
            </a:solidFill>
            <a:ln w="38100" cap="rnd">
              <a:solidFill>
                <a:srgbClr val="304F67"/>
              </a:solidFill>
              <a:prstDash val="solid"/>
              <a:round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2138030" cy="6005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1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352093" y="6445865"/>
            <a:ext cx="8117834" cy="2280130"/>
            <a:chOff x="0" y="0"/>
            <a:chExt cx="2138030" cy="60052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138030" cy="600528"/>
            </a:xfrm>
            <a:custGeom>
              <a:avLst/>
              <a:gdLst/>
              <a:ahLst/>
              <a:cxnLst/>
              <a:rect l="l" t="t" r="r" b="b"/>
              <a:pathLst>
                <a:path w="2138030" h="600528">
                  <a:moveTo>
                    <a:pt x="49592" y="0"/>
                  </a:moveTo>
                  <a:lnTo>
                    <a:pt x="2088438" y="0"/>
                  </a:lnTo>
                  <a:cubicBezTo>
                    <a:pt x="2101591" y="0"/>
                    <a:pt x="2114205" y="5225"/>
                    <a:pt x="2123505" y="14525"/>
                  </a:cubicBezTo>
                  <a:cubicBezTo>
                    <a:pt x="2132805" y="23825"/>
                    <a:pt x="2138030" y="36439"/>
                    <a:pt x="2138030" y="49592"/>
                  </a:cubicBezTo>
                  <a:lnTo>
                    <a:pt x="2138030" y="550936"/>
                  </a:lnTo>
                  <a:cubicBezTo>
                    <a:pt x="2138030" y="578325"/>
                    <a:pt x="2115827" y="600528"/>
                    <a:pt x="2088438" y="600528"/>
                  </a:cubicBezTo>
                  <a:lnTo>
                    <a:pt x="49592" y="600528"/>
                  </a:lnTo>
                  <a:cubicBezTo>
                    <a:pt x="22203" y="600528"/>
                    <a:pt x="0" y="578325"/>
                    <a:pt x="0" y="550936"/>
                  </a:cubicBezTo>
                  <a:lnTo>
                    <a:pt x="0" y="49592"/>
                  </a:lnTo>
                  <a:cubicBezTo>
                    <a:pt x="0" y="22203"/>
                    <a:pt x="22203" y="0"/>
                    <a:pt x="49592" y="0"/>
                  </a:cubicBezTo>
                  <a:close/>
                </a:path>
              </a:pathLst>
            </a:custGeom>
            <a:solidFill>
              <a:srgbClr val="12273B"/>
            </a:solidFill>
            <a:ln w="38100" cap="rnd">
              <a:solidFill>
                <a:srgbClr val="304F67"/>
              </a:solidFill>
              <a:prstDash val="solid"/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2138030" cy="6005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1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299391" y="4126763"/>
            <a:ext cx="7229551" cy="325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400" b="1" dirty="0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THE PROBLEM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99391" y="4781436"/>
            <a:ext cx="6870986" cy="692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33"/>
              </a:lnSpc>
            </a:pPr>
            <a:r>
              <a:rPr lang="en-US" sz="2400" b="1" dirty="0">
                <a:solidFill>
                  <a:srgbClr val="A7B4C7"/>
                </a:solidFill>
                <a:latin typeface="IBM Plex Sans"/>
                <a:ea typeface="IBM Plex Sans"/>
                <a:cs typeface="IBM Plex Sans"/>
                <a:sym typeface="IBM Plex Sans"/>
              </a:rPr>
              <a:t>Legacy information systems fragment the patient journey before consultation begins.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837410" y="4126763"/>
            <a:ext cx="7229551" cy="39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TARGET USERS / STAKEHOLDERS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837410" y="4699083"/>
            <a:ext cx="7229551" cy="578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2400" dirty="0">
                <a:solidFill>
                  <a:srgbClr val="B1C0CD"/>
                </a:solidFill>
                <a:latin typeface="Aptos"/>
                <a:ea typeface="Aptos"/>
                <a:cs typeface="Aptos"/>
                <a:sym typeface="Aptos"/>
              </a:rPr>
              <a:t>[HOSPITAL  CLINICS  SCHOOLS UNIVERVERSITY MNCs  and INDUSTRIES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837410" y="6734832"/>
            <a:ext cx="7229551" cy="39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EVIDENCE &amp; CURRENT GAP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796234" y="7123322"/>
            <a:ext cx="7229551" cy="1902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31"/>
              </a:lnSpc>
            </a:pPr>
            <a:r>
              <a:rPr lang="en-US" dirty="0">
                <a:solidFill>
                  <a:srgbClr val="A7B4C7"/>
                </a:solidFill>
                <a:latin typeface="IBM Plex Sans"/>
                <a:ea typeface="IBM Plex Sans"/>
                <a:cs typeface="IBM Plex Sans"/>
                <a:sym typeface="IBM Plex Sans"/>
              </a:rPr>
              <a:t>1. Disconnected registration, triage and care records delay decisions.</a:t>
            </a:r>
          </a:p>
          <a:p>
            <a:pPr>
              <a:lnSpc>
                <a:spcPts val="2531"/>
              </a:lnSpc>
            </a:pPr>
            <a:r>
              <a:rPr lang="en-US" dirty="0">
                <a:solidFill>
                  <a:srgbClr val="A7B4C7"/>
                </a:solidFill>
                <a:latin typeface="IBM Plex Sans"/>
                <a:ea typeface="IBM Plex Sans"/>
                <a:cs typeface="IBM Plex Sans"/>
                <a:sym typeface="IBM Plex Sans"/>
              </a:rPr>
              <a:t>2. Repeated entry creates queues, transcription errors and staff load.</a:t>
            </a:r>
          </a:p>
          <a:p>
            <a:pPr>
              <a:lnSpc>
                <a:spcPts val="2531"/>
              </a:lnSpc>
            </a:pPr>
            <a:r>
              <a:rPr lang="en-US" dirty="0">
                <a:solidFill>
                  <a:srgbClr val="A7B4C7"/>
                </a:solidFill>
                <a:latin typeface="IBM Plex Sans"/>
                <a:ea typeface="IBM Plex Sans"/>
                <a:cs typeface="IBM Plex Sans"/>
                <a:sym typeface="IBM Plex Sans"/>
              </a:rPr>
              <a:t>3. A single snapshot misses stabilization trends and deterioration.</a:t>
            </a:r>
          </a:p>
          <a:p>
            <a:pPr>
              <a:lnSpc>
                <a:spcPts val="2531"/>
              </a:lnSpc>
            </a:pPr>
            <a:r>
              <a:rPr lang="en-US" dirty="0">
                <a:solidFill>
                  <a:srgbClr val="A7B4C7"/>
                </a:solidFill>
                <a:latin typeface="IBM Plex Sans"/>
                <a:ea typeface="IBM Plex Sans"/>
                <a:cs typeface="IBM Plex Sans"/>
                <a:sym typeface="IBM Plex Sans"/>
              </a:rPr>
              <a:t>4. Longer waits translate directly into compromised clinical outcomes.</a:t>
            </a:r>
          </a:p>
          <a:p>
            <a:pPr>
              <a:lnSpc>
                <a:spcPts val="2531"/>
              </a:lnSpc>
            </a:pPr>
            <a:endParaRPr lang="en-US" dirty="0">
              <a:solidFill>
                <a:srgbClr val="A7B4C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>
              <a:lnSpc>
                <a:spcPts val="2531"/>
              </a:lnSpc>
            </a:pPr>
            <a:endParaRPr lang="en-US" dirty="0">
              <a:solidFill>
                <a:srgbClr val="A7B4C7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77773" y="9672352"/>
            <a:ext cx="13543845" cy="261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B1C0CD"/>
                </a:solidFill>
                <a:latin typeface="Aptos"/>
                <a:ea typeface="Aptos"/>
                <a:cs typeface="Aptos"/>
                <a:sym typeface="Aptos"/>
              </a:rPr>
              <a:t>VMEDITHON 3.0  •  HACKATHON &amp; BUILDATHON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6838047" y="9626975"/>
            <a:ext cx="503453" cy="320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1">
                <a:solidFill>
                  <a:srgbClr val="2AC976"/>
                </a:solidFill>
                <a:latin typeface="Aptos Bold"/>
                <a:ea typeface="Aptos Bold"/>
                <a:cs typeface="Aptos Bold"/>
                <a:sym typeface="Aptos Bold"/>
              </a:rPr>
              <a:t>2/7</a:t>
            </a:r>
          </a:p>
        </p:txBody>
      </p:sp>
      <p:sp>
        <p:nvSpPr>
          <p:cNvPr id="29" name="Freeform 29"/>
          <p:cNvSpPr/>
          <p:nvPr/>
        </p:nvSpPr>
        <p:spPr>
          <a:xfrm>
            <a:off x="505649" y="19050"/>
            <a:ext cx="2276856" cy="1955414"/>
          </a:xfrm>
          <a:custGeom>
            <a:avLst/>
            <a:gdLst/>
            <a:ahLst/>
            <a:cxnLst/>
            <a:rect l="l" t="t" r="r" b="b"/>
            <a:pathLst>
              <a:path w="2276856" h="1955414">
                <a:moveTo>
                  <a:pt x="0" y="0"/>
                </a:moveTo>
                <a:lnTo>
                  <a:pt x="2276856" y="0"/>
                </a:lnTo>
                <a:lnTo>
                  <a:pt x="2276856" y="1955414"/>
                </a:lnTo>
                <a:lnTo>
                  <a:pt x="0" y="19554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157646" b="-100000"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3891143" y="9525"/>
            <a:ext cx="2059249" cy="2186645"/>
          </a:xfrm>
          <a:custGeom>
            <a:avLst/>
            <a:gdLst/>
            <a:ahLst/>
            <a:cxnLst/>
            <a:rect l="l" t="t" r="r" b="b"/>
            <a:pathLst>
              <a:path w="2059249" h="2186645">
                <a:moveTo>
                  <a:pt x="0" y="0"/>
                </a:moveTo>
                <a:lnTo>
                  <a:pt x="2059249" y="0"/>
                </a:lnTo>
                <a:lnTo>
                  <a:pt x="2059249" y="2186645"/>
                </a:lnTo>
                <a:lnTo>
                  <a:pt x="0" y="21866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8791" b="-87588"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5603719" y="336157"/>
            <a:ext cx="2016514" cy="1935237"/>
          </a:xfrm>
          <a:custGeom>
            <a:avLst/>
            <a:gdLst/>
            <a:ahLst/>
            <a:cxnLst/>
            <a:rect l="l" t="t" r="r" b="b"/>
            <a:pathLst>
              <a:path w="2016514" h="1935237">
                <a:moveTo>
                  <a:pt x="0" y="0"/>
                </a:moveTo>
                <a:lnTo>
                  <a:pt x="2016514" y="0"/>
                </a:lnTo>
                <a:lnTo>
                  <a:pt x="2016514" y="1935238"/>
                </a:lnTo>
                <a:lnTo>
                  <a:pt x="0" y="19352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09871" r="-202118"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10837545" y="71434"/>
            <a:ext cx="3650548" cy="2464684"/>
          </a:xfrm>
          <a:custGeom>
            <a:avLst/>
            <a:gdLst/>
            <a:ahLst/>
            <a:cxnLst/>
            <a:rect l="l" t="t" r="r" b="b"/>
            <a:pathLst>
              <a:path w="3650548" h="2464684">
                <a:moveTo>
                  <a:pt x="0" y="0"/>
                </a:moveTo>
                <a:lnTo>
                  <a:pt x="3650547" y="0"/>
                </a:lnTo>
                <a:lnTo>
                  <a:pt x="3650547" y="2464684"/>
                </a:lnTo>
                <a:lnTo>
                  <a:pt x="0" y="24646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8505" t="-153689" r="-87488" b="-18834"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16192765" y="336157"/>
            <a:ext cx="1794017" cy="1957095"/>
          </a:xfrm>
          <a:custGeom>
            <a:avLst/>
            <a:gdLst/>
            <a:ahLst/>
            <a:cxnLst/>
            <a:rect l="l" t="t" r="r" b="b"/>
            <a:pathLst>
              <a:path w="1794017" h="1957095">
                <a:moveTo>
                  <a:pt x="0" y="0"/>
                </a:moveTo>
                <a:lnTo>
                  <a:pt x="1794018" y="0"/>
                </a:lnTo>
                <a:lnTo>
                  <a:pt x="1794018" y="1957095"/>
                </a:lnTo>
                <a:lnTo>
                  <a:pt x="0" y="19570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55724" t="-115126" r="-9421" b="-8019"/>
            </a:stretch>
          </a:blipFill>
        </p:spPr>
      </p:sp>
      <p:grpSp>
        <p:nvGrpSpPr>
          <p:cNvPr id="34" name="Group 34"/>
          <p:cNvGrpSpPr/>
          <p:nvPr/>
        </p:nvGrpSpPr>
        <p:grpSpPr>
          <a:xfrm>
            <a:off x="14650017" y="631433"/>
            <a:ext cx="1312757" cy="1312757"/>
            <a:chOff x="0" y="0"/>
            <a:chExt cx="812800" cy="812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1"/>
                </a:lnSpc>
              </a:pPr>
              <a:endParaRPr/>
            </a:p>
          </p:txBody>
        </p:sp>
      </p:grpSp>
      <p:sp>
        <p:nvSpPr>
          <p:cNvPr id="37" name="Freeform 37"/>
          <p:cNvSpPr/>
          <p:nvPr/>
        </p:nvSpPr>
        <p:spPr>
          <a:xfrm>
            <a:off x="15016504" y="865339"/>
            <a:ext cx="681540" cy="844946"/>
          </a:xfrm>
          <a:custGeom>
            <a:avLst/>
            <a:gdLst/>
            <a:ahLst/>
            <a:cxnLst/>
            <a:rect l="l" t="t" r="r" b="b"/>
            <a:pathLst>
              <a:path w="681540" h="844946">
                <a:moveTo>
                  <a:pt x="0" y="0"/>
                </a:moveTo>
                <a:lnTo>
                  <a:pt x="681540" y="0"/>
                </a:lnTo>
                <a:lnTo>
                  <a:pt x="681540" y="844946"/>
                </a:lnTo>
                <a:lnTo>
                  <a:pt x="0" y="8449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519879"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2685759" y="420802"/>
            <a:ext cx="1264569" cy="1422171"/>
          </a:xfrm>
          <a:custGeom>
            <a:avLst/>
            <a:gdLst/>
            <a:ahLst/>
            <a:cxnLst/>
            <a:rect l="l" t="t" r="r" b="b"/>
            <a:pathLst>
              <a:path w="1264569" h="1422171">
                <a:moveTo>
                  <a:pt x="0" y="0"/>
                </a:moveTo>
                <a:lnTo>
                  <a:pt x="1264569" y="0"/>
                </a:lnTo>
                <a:lnTo>
                  <a:pt x="1264569" y="1422171"/>
                </a:lnTo>
                <a:lnTo>
                  <a:pt x="0" y="14221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39" name="TextBox 39"/>
          <p:cNvSpPr txBox="1"/>
          <p:nvPr/>
        </p:nvSpPr>
        <p:spPr>
          <a:xfrm>
            <a:off x="7351107" y="672521"/>
            <a:ext cx="3600082" cy="1192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3"/>
              </a:lnSpc>
            </a:pPr>
            <a:r>
              <a:rPr lang="en-US" sz="227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School of Computer Science &amp; Engineering</a:t>
            </a:r>
          </a:p>
          <a:p>
            <a:pPr algn="ctr">
              <a:lnSpc>
                <a:spcPts val="3183"/>
              </a:lnSpc>
            </a:pPr>
            <a:r>
              <a:rPr lang="en-US" sz="227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(SCOPE)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6" b="-26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302297" cy="82363"/>
            <a:chOff x="0" y="0"/>
            <a:chExt cx="24403063" cy="10981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403050" cy="109855"/>
            </a:xfrm>
            <a:custGeom>
              <a:avLst/>
              <a:gdLst/>
              <a:ahLst/>
              <a:cxnLst/>
              <a:rect l="l" t="t" r="r" b="b"/>
              <a:pathLst>
                <a:path w="24403050" h="109855">
                  <a:moveTo>
                    <a:pt x="0" y="0"/>
                  </a:moveTo>
                  <a:lnTo>
                    <a:pt x="24403050" y="0"/>
                  </a:lnTo>
                  <a:lnTo>
                    <a:pt x="24403050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2AC976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0" y="10185225"/>
            <a:ext cx="18302297" cy="109814"/>
            <a:chOff x="0" y="0"/>
            <a:chExt cx="24403063" cy="14641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403050" cy="146431"/>
            </a:xfrm>
            <a:custGeom>
              <a:avLst/>
              <a:gdLst/>
              <a:ahLst/>
              <a:cxnLst/>
              <a:rect l="l" t="t" r="r" b="b"/>
              <a:pathLst>
                <a:path w="24403050" h="146431">
                  <a:moveTo>
                    <a:pt x="0" y="0"/>
                  </a:moveTo>
                  <a:lnTo>
                    <a:pt x="24403050" y="0"/>
                  </a:lnTo>
                  <a:lnTo>
                    <a:pt x="24403050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278DD6"/>
            </a:solidFill>
          </p:spPr>
        </p:sp>
      </p:grpSp>
      <p:sp>
        <p:nvSpPr>
          <p:cNvPr id="7" name="TextBox 7"/>
          <p:cNvSpPr txBox="1"/>
          <p:nvPr/>
        </p:nvSpPr>
        <p:spPr>
          <a:xfrm>
            <a:off x="846411" y="2224068"/>
            <a:ext cx="16151924" cy="859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1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02. OUR SOLUTION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87587" y="3065602"/>
            <a:ext cx="15602855" cy="526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B1C0CD"/>
                </a:solidFill>
                <a:latin typeface="Aptos"/>
                <a:ea typeface="Aptos"/>
                <a:cs typeface="Aptos"/>
                <a:sym typeface="Aptos"/>
              </a:rPr>
              <a:t>Explain what you are building and how it directly addresses the identified problem.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814073" y="3833946"/>
            <a:ext cx="10314108" cy="4892050"/>
            <a:chOff x="0" y="0"/>
            <a:chExt cx="13752144" cy="652273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752068" cy="6522720"/>
            </a:xfrm>
            <a:custGeom>
              <a:avLst/>
              <a:gdLst/>
              <a:ahLst/>
              <a:cxnLst/>
              <a:rect l="l" t="t" r="r" b="b"/>
              <a:pathLst>
                <a:path w="13752068" h="6522720">
                  <a:moveTo>
                    <a:pt x="0" y="1087120"/>
                  </a:moveTo>
                  <a:cubicBezTo>
                    <a:pt x="0" y="486791"/>
                    <a:pt x="486791" y="0"/>
                    <a:pt x="1087120" y="0"/>
                  </a:cubicBezTo>
                  <a:lnTo>
                    <a:pt x="12664948" y="0"/>
                  </a:lnTo>
                  <a:cubicBezTo>
                    <a:pt x="13265404" y="0"/>
                    <a:pt x="13752068" y="486791"/>
                    <a:pt x="13752068" y="1087120"/>
                  </a:cubicBezTo>
                  <a:lnTo>
                    <a:pt x="13752068" y="5435600"/>
                  </a:lnTo>
                  <a:cubicBezTo>
                    <a:pt x="13752068" y="6036056"/>
                    <a:pt x="13265277" y="6522720"/>
                    <a:pt x="12664948" y="6522720"/>
                  </a:cubicBezTo>
                  <a:lnTo>
                    <a:pt x="1087120" y="6522720"/>
                  </a:lnTo>
                  <a:cubicBezTo>
                    <a:pt x="486791" y="6522720"/>
                    <a:pt x="0" y="6036056"/>
                    <a:pt x="0" y="5435600"/>
                  </a:cubicBezTo>
                  <a:close/>
                </a:path>
              </a:pathLst>
            </a:custGeom>
            <a:solidFill>
              <a:srgbClr val="12273B"/>
            </a:solidFill>
            <a:ln w="19065" cap="sq">
              <a:solidFill>
                <a:srgbClr val="304F67"/>
              </a:solidFill>
              <a:prstDash val="solid"/>
              <a:miter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11520916" y="3833946"/>
            <a:ext cx="5921559" cy="2215344"/>
            <a:chOff x="0" y="0"/>
            <a:chExt cx="7895412" cy="295379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895336" cy="2953766"/>
            </a:xfrm>
            <a:custGeom>
              <a:avLst/>
              <a:gdLst/>
              <a:ahLst/>
              <a:cxnLst/>
              <a:rect l="l" t="t" r="r" b="b"/>
              <a:pathLst>
                <a:path w="7895336" h="2953766">
                  <a:moveTo>
                    <a:pt x="0" y="492252"/>
                  </a:moveTo>
                  <a:cubicBezTo>
                    <a:pt x="0" y="220472"/>
                    <a:pt x="220472" y="0"/>
                    <a:pt x="492252" y="0"/>
                  </a:cubicBezTo>
                  <a:lnTo>
                    <a:pt x="7403084" y="0"/>
                  </a:lnTo>
                  <a:cubicBezTo>
                    <a:pt x="7674990" y="0"/>
                    <a:pt x="7895336" y="220472"/>
                    <a:pt x="7895336" y="492252"/>
                  </a:cubicBezTo>
                  <a:lnTo>
                    <a:pt x="7895336" y="2461514"/>
                  </a:lnTo>
                  <a:cubicBezTo>
                    <a:pt x="7895336" y="2733421"/>
                    <a:pt x="7674864" y="2953766"/>
                    <a:pt x="7403084" y="2953766"/>
                  </a:cubicBezTo>
                  <a:lnTo>
                    <a:pt x="492252" y="2953766"/>
                  </a:lnTo>
                  <a:cubicBezTo>
                    <a:pt x="220472" y="2953766"/>
                    <a:pt x="0" y="2733421"/>
                    <a:pt x="0" y="2461514"/>
                  </a:cubicBezTo>
                  <a:close/>
                </a:path>
              </a:pathLst>
            </a:custGeom>
            <a:solidFill>
              <a:srgbClr val="12273B"/>
            </a:solidFill>
            <a:ln w="19065" cap="sq">
              <a:solidFill>
                <a:srgbClr val="304F67"/>
              </a:solidFill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689237" y="6562887"/>
            <a:ext cx="5921559" cy="2215344"/>
            <a:chOff x="0" y="0"/>
            <a:chExt cx="7895412" cy="295379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895336" cy="2953766"/>
            </a:xfrm>
            <a:custGeom>
              <a:avLst/>
              <a:gdLst/>
              <a:ahLst/>
              <a:cxnLst/>
              <a:rect l="l" t="t" r="r" b="b"/>
              <a:pathLst>
                <a:path w="7895336" h="2953766">
                  <a:moveTo>
                    <a:pt x="0" y="492252"/>
                  </a:moveTo>
                  <a:cubicBezTo>
                    <a:pt x="0" y="220472"/>
                    <a:pt x="220472" y="0"/>
                    <a:pt x="492252" y="0"/>
                  </a:cubicBezTo>
                  <a:lnTo>
                    <a:pt x="7403084" y="0"/>
                  </a:lnTo>
                  <a:cubicBezTo>
                    <a:pt x="7674990" y="0"/>
                    <a:pt x="7895336" y="220472"/>
                    <a:pt x="7895336" y="492252"/>
                  </a:cubicBezTo>
                  <a:lnTo>
                    <a:pt x="7895336" y="2461514"/>
                  </a:lnTo>
                  <a:cubicBezTo>
                    <a:pt x="7895336" y="2733421"/>
                    <a:pt x="7674864" y="2953766"/>
                    <a:pt x="7403084" y="2953766"/>
                  </a:cubicBezTo>
                  <a:lnTo>
                    <a:pt x="492252" y="2953766"/>
                  </a:lnTo>
                  <a:cubicBezTo>
                    <a:pt x="220472" y="2953766"/>
                    <a:pt x="0" y="2733421"/>
                    <a:pt x="0" y="2461514"/>
                  </a:cubicBezTo>
                  <a:close/>
                </a:path>
              </a:pathLst>
            </a:custGeom>
            <a:solidFill>
              <a:srgbClr val="12273B"/>
            </a:solidFill>
            <a:ln w="19065" cap="sq">
              <a:solidFill>
                <a:srgbClr val="304F67"/>
              </a:solidFill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617706" y="9471441"/>
            <a:ext cx="17062313" cy="20593"/>
            <a:chOff x="0" y="0"/>
            <a:chExt cx="22749751" cy="2745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2749763" cy="27432"/>
            </a:xfrm>
            <a:custGeom>
              <a:avLst/>
              <a:gdLst/>
              <a:ahLst/>
              <a:cxnLst/>
              <a:rect l="l" t="t" r="r" b="b"/>
              <a:pathLst>
                <a:path w="22749763" h="27432">
                  <a:moveTo>
                    <a:pt x="0" y="0"/>
                  </a:moveTo>
                  <a:lnTo>
                    <a:pt x="22749763" y="0"/>
                  </a:lnTo>
                  <a:lnTo>
                    <a:pt x="22749763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304F67"/>
            </a:solidFill>
          </p:spPr>
        </p:sp>
      </p:grpSp>
      <p:sp>
        <p:nvSpPr>
          <p:cNvPr id="17" name="Freeform 17"/>
          <p:cNvSpPr/>
          <p:nvPr/>
        </p:nvSpPr>
        <p:spPr>
          <a:xfrm>
            <a:off x="14759907" y="2411188"/>
            <a:ext cx="2499393" cy="833131"/>
          </a:xfrm>
          <a:custGeom>
            <a:avLst/>
            <a:gdLst/>
            <a:ahLst/>
            <a:cxnLst/>
            <a:rect l="l" t="t" r="r" b="b"/>
            <a:pathLst>
              <a:path w="2499393" h="833131">
                <a:moveTo>
                  <a:pt x="0" y="0"/>
                </a:moveTo>
                <a:lnTo>
                  <a:pt x="2499393" y="0"/>
                </a:lnTo>
                <a:lnTo>
                  <a:pt x="2499393" y="833131"/>
                </a:lnTo>
                <a:lnTo>
                  <a:pt x="0" y="8331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299391" y="4126763"/>
            <a:ext cx="9425826" cy="39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SOLUTION OVERVIEW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99391" y="4781436"/>
            <a:ext cx="9425826" cy="2359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567"/>
              </a:lnSpc>
            </a:pPr>
            <a:r>
              <a:rPr lang="en-US" sz="4000" b="1" dirty="0">
                <a:solidFill>
                  <a:srgbClr val="F8FAFC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Autonomous kiosk data flow</a:t>
            </a:r>
          </a:p>
          <a:p>
            <a:pPr>
              <a:lnSpc>
                <a:spcPts val="4567"/>
              </a:lnSpc>
            </a:pPr>
            <a:r>
              <a:rPr lang="en-US" sz="4000" dirty="0">
                <a:solidFill>
                  <a:srgbClr val="A7B4C7"/>
                </a:solidFill>
                <a:latin typeface="IBM Plex Sans"/>
                <a:ea typeface="IBM Plex Sans"/>
                <a:cs typeface="IBM Plex Sans"/>
                <a:sym typeface="IBM Plex Sans"/>
              </a:rPr>
              <a:t>A visit ID binds fifteen seconds of sensing to a persistent clinical record.</a:t>
            </a:r>
          </a:p>
          <a:p>
            <a:pPr>
              <a:lnSpc>
                <a:spcPts val="4567"/>
              </a:lnSpc>
            </a:pPr>
            <a:endParaRPr lang="en-US" sz="4000" b="1" dirty="0">
              <a:solidFill>
                <a:srgbClr val="F8FAFC"/>
              </a:solidFill>
              <a:latin typeface="Akzidenz-Grotesk Bold"/>
              <a:ea typeface="Akzidenz-Grotesk Bold"/>
              <a:cs typeface="Akzidenz-Grotesk Bold"/>
              <a:sym typeface="Akzidenz-Grotesk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2006234" y="4126763"/>
            <a:ext cx="5033277" cy="39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 dirty="0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KEY VALUE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006234" y="4781436"/>
            <a:ext cx="5033277" cy="512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567"/>
              </a:lnSpc>
            </a:pPr>
            <a:r>
              <a:rPr lang="en-US" sz="2400" b="1" dirty="0">
                <a:solidFill>
                  <a:srgbClr val="F8FAFC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LIVE  TELEMETRY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006234" y="6803469"/>
            <a:ext cx="5033277" cy="39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CORE FEATURES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006234" y="6961324"/>
            <a:ext cx="5033277" cy="1917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77"/>
              </a:lnSpc>
            </a:pPr>
            <a:r>
              <a:rPr lang="en-US" sz="2000" b="1" dirty="0">
                <a:solidFill>
                  <a:srgbClr val="F8FAFC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Prescription queue  Dispense tracking</a:t>
            </a:r>
          </a:p>
          <a:p>
            <a:pPr>
              <a:lnSpc>
                <a:spcPts val="3997"/>
              </a:lnSpc>
            </a:pPr>
            <a:r>
              <a:rPr lang="en-US" sz="2000" b="1" dirty="0">
                <a:solidFill>
                  <a:srgbClr val="F8FAFC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Lab queue  Verification + dispatch</a:t>
            </a:r>
          </a:p>
          <a:p>
            <a:pPr>
              <a:lnSpc>
                <a:spcPts val="3997"/>
              </a:lnSpc>
            </a:pPr>
            <a:r>
              <a:rPr lang="en-US" sz="2000" b="1" dirty="0">
                <a:solidFill>
                  <a:srgbClr val="F8FAFC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Lab queue  Verification + dispatch</a:t>
            </a:r>
          </a:p>
          <a:p>
            <a:pPr algn="l">
              <a:lnSpc>
                <a:spcPts val="2161"/>
              </a:lnSpc>
            </a:pPr>
            <a:endParaRPr lang="en-US" sz="2000" dirty="0">
              <a:solidFill>
                <a:srgbClr val="B1C0CD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777773" y="9672352"/>
            <a:ext cx="13543845" cy="261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B1C0CD"/>
                </a:solidFill>
                <a:latin typeface="Aptos"/>
                <a:ea typeface="Aptos"/>
                <a:cs typeface="Aptos"/>
                <a:sym typeface="Aptos"/>
              </a:rPr>
              <a:t>VMEDITHON 3.0  •  HACKATHON &amp; BUILDATHON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6838047" y="9626975"/>
            <a:ext cx="503453" cy="320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1">
                <a:solidFill>
                  <a:srgbClr val="2AC976"/>
                </a:solidFill>
                <a:latin typeface="Aptos Bold"/>
                <a:ea typeface="Aptos Bold"/>
                <a:cs typeface="Aptos Bold"/>
                <a:sym typeface="Aptos Bold"/>
              </a:rPr>
              <a:t>3/7</a:t>
            </a:r>
          </a:p>
        </p:txBody>
      </p:sp>
      <p:sp>
        <p:nvSpPr>
          <p:cNvPr id="26" name="Freeform 26"/>
          <p:cNvSpPr/>
          <p:nvPr/>
        </p:nvSpPr>
        <p:spPr>
          <a:xfrm>
            <a:off x="505649" y="19050"/>
            <a:ext cx="2276856" cy="1955414"/>
          </a:xfrm>
          <a:custGeom>
            <a:avLst/>
            <a:gdLst/>
            <a:ahLst/>
            <a:cxnLst/>
            <a:rect l="l" t="t" r="r" b="b"/>
            <a:pathLst>
              <a:path w="2276856" h="1955414">
                <a:moveTo>
                  <a:pt x="0" y="0"/>
                </a:moveTo>
                <a:lnTo>
                  <a:pt x="2276856" y="0"/>
                </a:lnTo>
                <a:lnTo>
                  <a:pt x="2276856" y="1955414"/>
                </a:lnTo>
                <a:lnTo>
                  <a:pt x="0" y="19554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157646" b="-100000"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3891143" y="9525"/>
            <a:ext cx="2059249" cy="2186645"/>
          </a:xfrm>
          <a:custGeom>
            <a:avLst/>
            <a:gdLst/>
            <a:ahLst/>
            <a:cxnLst/>
            <a:rect l="l" t="t" r="r" b="b"/>
            <a:pathLst>
              <a:path w="2059249" h="2186645">
                <a:moveTo>
                  <a:pt x="0" y="0"/>
                </a:moveTo>
                <a:lnTo>
                  <a:pt x="2059249" y="0"/>
                </a:lnTo>
                <a:lnTo>
                  <a:pt x="2059249" y="2186645"/>
                </a:lnTo>
                <a:lnTo>
                  <a:pt x="0" y="21866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8791" b="-87588"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5603719" y="336157"/>
            <a:ext cx="2016514" cy="1935237"/>
          </a:xfrm>
          <a:custGeom>
            <a:avLst/>
            <a:gdLst/>
            <a:ahLst/>
            <a:cxnLst/>
            <a:rect l="l" t="t" r="r" b="b"/>
            <a:pathLst>
              <a:path w="2016514" h="1935237">
                <a:moveTo>
                  <a:pt x="0" y="0"/>
                </a:moveTo>
                <a:lnTo>
                  <a:pt x="2016514" y="0"/>
                </a:lnTo>
                <a:lnTo>
                  <a:pt x="2016514" y="1935238"/>
                </a:lnTo>
                <a:lnTo>
                  <a:pt x="0" y="19352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09871" r="-202118"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0837545" y="71434"/>
            <a:ext cx="3650548" cy="2464684"/>
          </a:xfrm>
          <a:custGeom>
            <a:avLst/>
            <a:gdLst/>
            <a:ahLst/>
            <a:cxnLst/>
            <a:rect l="l" t="t" r="r" b="b"/>
            <a:pathLst>
              <a:path w="3650548" h="2464684">
                <a:moveTo>
                  <a:pt x="0" y="0"/>
                </a:moveTo>
                <a:lnTo>
                  <a:pt x="3650547" y="0"/>
                </a:lnTo>
                <a:lnTo>
                  <a:pt x="3650547" y="2464684"/>
                </a:lnTo>
                <a:lnTo>
                  <a:pt x="0" y="24646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8505" t="-153689" r="-87488" b="-18834"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6192765" y="336157"/>
            <a:ext cx="1794017" cy="1957095"/>
          </a:xfrm>
          <a:custGeom>
            <a:avLst/>
            <a:gdLst/>
            <a:ahLst/>
            <a:cxnLst/>
            <a:rect l="l" t="t" r="r" b="b"/>
            <a:pathLst>
              <a:path w="1794017" h="1957095">
                <a:moveTo>
                  <a:pt x="0" y="0"/>
                </a:moveTo>
                <a:lnTo>
                  <a:pt x="1794018" y="0"/>
                </a:lnTo>
                <a:lnTo>
                  <a:pt x="1794018" y="1957095"/>
                </a:lnTo>
                <a:lnTo>
                  <a:pt x="0" y="19570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55724" t="-115126" r="-9421" b="-8019"/>
            </a:stretch>
          </a:blipFill>
        </p:spPr>
      </p:sp>
      <p:grpSp>
        <p:nvGrpSpPr>
          <p:cNvPr id="31" name="Group 31"/>
          <p:cNvGrpSpPr/>
          <p:nvPr/>
        </p:nvGrpSpPr>
        <p:grpSpPr>
          <a:xfrm>
            <a:off x="14650017" y="631433"/>
            <a:ext cx="1312757" cy="1312757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1"/>
                </a:lnSpc>
              </a:pPr>
              <a:endParaRPr/>
            </a:p>
          </p:txBody>
        </p:sp>
      </p:grpSp>
      <p:sp>
        <p:nvSpPr>
          <p:cNvPr id="34" name="Freeform 34"/>
          <p:cNvSpPr/>
          <p:nvPr/>
        </p:nvSpPr>
        <p:spPr>
          <a:xfrm>
            <a:off x="15016504" y="865339"/>
            <a:ext cx="681540" cy="844946"/>
          </a:xfrm>
          <a:custGeom>
            <a:avLst/>
            <a:gdLst/>
            <a:ahLst/>
            <a:cxnLst/>
            <a:rect l="l" t="t" r="r" b="b"/>
            <a:pathLst>
              <a:path w="681540" h="844946">
                <a:moveTo>
                  <a:pt x="0" y="0"/>
                </a:moveTo>
                <a:lnTo>
                  <a:pt x="681540" y="0"/>
                </a:lnTo>
                <a:lnTo>
                  <a:pt x="681540" y="844946"/>
                </a:lnTo>
                <a:lnTo>
                  <a:pt x="0" y="8449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519879"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2685759" y="420802"/>
            <a:ext cx="1264569" cy="1422171"/>
          </a:xfrm>
          <a:custGeom>
            <a:avLst/>
            <a:gdLst/>
            <a:ahLst/>
            <a:cxnLst/>
            <a:rect l="l" t="t" r="r" b="b"/>
            <a:pathLst>
              <a:path w="1264569" h="1422171">
                <a:moveTo>
                  <a:pt x="0" y="0"/>
                </a:moveTo>
                <a:lnTo>
                  <a:pt x="1264569" y="0"/>
                </a:lnTo>
                <a:lnTo>
                  <a:pt x="1264569" y="1422171"/>
                </a:lnTo>
                <a:lnTo>
                  <a:pt x="0" y="14221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36" name="TextBox 36"/>
          <p:cNvSpPr txBox="1"/>
          <p:nvPr/>
        </p:nvSpPr>
        <p:spPr>
          <a:xfrm>
            <a:off x="7351107" y="672521"/>
            <a:ext cx="3600082" cy="1192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3"/>
              </a:lnSpc>
            </a:pPr>
            <a:r>
              <a:rPr lang="en-US" sz="227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School of Computer Science &amp; Engineering</a:t>
            </a:r>
          </a:p>
          <a:p>
            <a:pPr algn="ctr">
              <a:lnSpc>
                <a:spcPts val="3183"/>
              </a:lnSpc>
            </a:pPr>
            <a:r>
              <a:rPr lang="en-US" sz="227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(SCOPE)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6" b="-26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302297" cy="82363"/>
            <a:chOff x="0" y="0"/>
            <a:chExt cx="24403063" cy="10981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403050" cy="109855"/>
            </a:xfrm>
            <a:custGeom>
              <a:avLst/>
              <a:gdLst/>
              <a:ahLst/>
              <a:cxnLst/>
              <a:rect l="l" t="t" r="r" b="b"/>
              <a:pathLst>
                <a:path w="24403050" h="109855">
                  <a:moveTo>
                    <a:pt x="0" y="0"/>
                  </a:moveTo>
                  <a:lnTo>
                    <a:pt x="24403050" y="0"/>
                  </a:lnTo>
                  <a:lnTo>
                    <a:pt x="24403050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2AC976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0" y="10185225"/>
            <a:ext cx="18302297" cy="109814"/>
            <a:chOff x="0" y="0"/>
            <a:chExt cx="24403063" cy="14641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403050" cy="146431"/>
            </a:xfrm>
            <a:custGeom>
              <a:avLst/>
              <a:gdLst/>
              <a:ahLst/>
              <a:cxnLst/>
              <a:rect l="l" t="t" r="r" b="b"/>
              <a:pathLst>
                <a:path w="24403050" h="146431">
                  <a:moveTo>
                    <a:pt x="0" y="0"/>
                  </a:moveTo>
                  <a:lnTo>
                    <a:pt x="24403050" y="0"/>
                  </a:lnTo>
                  <a:lnTo>
                    <a:pt x="24403050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278DD6"/>
            </a:solidFill>
          </p:spPr>
        </p:sp>
      </p:grpSp>
      <p:sp>
        <p:nvSpPr>
          <p:cNvPr id="7" name="TextBox 7"/>
          <p:cNvSpPr txBox="1"/>
          <p:nvPr/>
        </p:nvSpPr>
        <p:spPr>
          <a:xfrm>
            <a:off x="846411" y="2224068"/>
            <a:ext cx="16151924" cy="859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1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03. TECHNOLOGY &amp; ARCHITECTURE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87587" y="3065602"/>
            <a:ext cx="15602855" cy="526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B1C0CD"/>
                </a:solidFill>
                <a:latin typeface="Aptos"/>
                <a:ea typeface="Aptos"/>
                <a:cs typeface="Aptos"/>
                <a:sym typeface="Aptos"/>
              </a:rPr>
              <a:t>Show the technical flow behind your solution.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814073" y="3765318"/>
            <a:ext cx="16628402" cy="3519383"/>
            <a:chOff x="0" y="0"/>
            <a:chExt cx="22171203" cy="469251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171152" cy="4692523"/>
            </a:xfrm>
            <a:custGeom>
              <a:avLst/>
              <a:gdLst/>
              <a:ahLst/>
              <a:cxnLst/>
              <a:rect l="l" t="t" r="r" b="b"/>
              <a:pathLst>
                <a:path w="22171152" h="4692523">
                  <a:moveTo>
                    <a:pt x="0" y="782066"/>
                  </a:moveTo>
                  <a:cubicBezTo>
                    <a:pt x="0" y="350139"/>
                    <a:pt x="350139" y="0"/>
                    <a:pt x="782066" y="0"/>
                  </a:cubicBezTo>
                  <a:lnTo>
                    <a:pt x="21389085" y="0"/>
                  </a:lnTo>
                  <a:cubicBezTo>
                    <a:pt x="21821012" y="0"/>
                    <a:pt x="22171152" y="350139"/>
                    <a:pt x="22171152" y="782066"/>
                  </a:cubicBezTo>
                  <a:lnTo>
                    <a:pt x="22171152" y="3910457"/>
                  </a:lnTo>
                  <a:cubicBezTo>
                    <a:pt x="22171152" y="4342384"/>
                    <a:pt x="21821012" y="4692523"/>
                    <a:pt x="21389085" y="4692523"/>
                  </a:cubicBezTo>
                  <a:lnTo>
                    <a:pt x="782066" y="4692523"/>
                  </a:lnTo>
                  <a:cubicBezTo>
                    <a:pt x="350139" y="4692523"/>
                    <a:pt x="0" y="4342384"/>
                    <a:pt x="0" y="3910457"/>
                  </a:cubicBezTo>
                  <a:close/>
                </a:path>
              </a:pathLst>
            </a:custGeom>
            <a:solidFill>
              <a:srgbClr val="12273B"/>
            </a:solidFill>
            <a:ln w="19065" cap="sq">
              <a:solidFill>
                <a:srgbClr val="304F67"/>
              </a:solidFill>
              <a:prstDash val="solid"/>
              <a:miter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92244" y="7649528"/>
            <a:ext cx="5441156" cy="1048607"/>
            <a:chOff x="-162439" y="-37211"/>
            <a:chExt cx="7254875" cy="1398143"/>
          </a:xfrm>
        </p:grpSpPr>
        <p:sp>
          <p:nvSpPr>
            <p:cNvPr id="12" name="Freeform 12"/>
            <p:cNvSpPr/>
            <p:nvPr/>
          </p:nvSpPr>
          <p:spPr>
            <a:xfrm>
              <a:off x="-162439" y="-37211"/>
              <a:ext cx="7254875" cy="1398143"/>
            </a:xfrm>
            <a:custGeom>
              <a:avLst/>
              <a:gdLst/>
              <a:ahLst/>
              <a:cxnLst/>
              <a:rect l="l" t="t" r="r" b="b"/>
              <a:pathLst>
                <a:path w="7254875" h="1398143">
                  <a:moveTo>
                    <a:pt x="0" y="233045"/>
                  </a:moveTo>
                  <a:cubicBezTo>
                    <a:pt x="0" y="104267"/>
                    <a:pt x="104267" y="0"/>
                    <a:pt x="233045" y="0"/>
                  </a:cubicBezTo>
                  <a:lnTo>
                    <a:pt x="7021830" y="0"/>
                  </a:lnTo>
                  <a:cubicBezTo>
                    <a:pt x="7150481" y="0"/>
                    <a:pt x="7254875" y="104267"/>
                    <a:pt x="7254875" y="233045"/>
                  </a:cubicBezTo>
                  <a:lnTo>
                    <a:pt x="7254875" y="1165098"/>
                  </a:lnTo>
                  <a:cubicBezTo>
                    <a:pt x="7254875" y="1293749"/>
                    <a:pt x="7150608" y="1398143"/>
                    <a:pt x="7021830" y="1398143"/>
                  </a:cubicBezTo>
                  <a:lnTo>
                    <a:pt x="233045" y="1398143"/>
                  </a:lnTo>
                  <a:cubicBezTo>
                    <a:pt x="104267" y="1398143"/>
                    <a:pt x="0" y="1293749"/>
                    <a:pt x="0" y="1165098"/>
                  </a:cubicBezTo>
                  <a:close/>
                </a:path>
              </a:pathLst>
            </a:custGeom>
            <a:solidFill>
              <a:srgbClr val="12273B"/>
            </a:solidFill>
            <a:ln w="19065" cap="sq">
              <a:solidFill>
                <a:srgbClr val="304F67"/>
              </a:solidFill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23608" y="7686961"/>
            <a:ext cx="82363" cy="1029500"/>
            <a:chOff x="0" y="0"/>
            <a:chExt cx="109817" cy="137266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9855" cy="1372616"/>
            </a:xfrm>
            <a:custGeom>
              <a:avLst/>
              <a:gdLst/>
              <a:ahLst/>
              <a:cxnLst/>
              <a:rect l="l" t="t" r="r" b="b"/>
              <a:pathLst>
                <a:path w="109855" h="1372616">
                  <a:moveTo>
                    <a:pt x="0" y="0"/>
                  </a:moveTo>
                  <a:lnTo>
                    <a:pt x="109855" y="0"/>
                  </a:lnTo>
                  <a:lnTo>
                    <a:pt x="109855" y="1372616"/>
                  </a:lnTo>
                  <a:lnTo>
                    <a:pt x="0" y="1372616"/>
                  </a:lnTo>
                  <a:close/>
                </a:path>
              </a:pathLst>
            </a:custGeom>
            <a:solidFill>
              <a:srgbClr val="2AC976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6414573" y="7677436"/>
            <a:ext cx="5441118" cy="1048569"/>
            <a:chOff x="0" y="0"/>
            <a:chExt cx="7254824" cy="139809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254875" cy="1398143"/>
            </a:xfrm>
            <a:custGeom>
              <a:avLst/>
              <a:gdLst/>
              <a:ahLst/>
              <a:cxnLst/>
              <a:rect l="l" t="t" r="r" b="b"/>
              <a:pathLst>
                <a:path w="7254875" h="1398143">
                  <a:moveTo>
                    <a:pt x="0" y="233045"/>
                  </a:moveTo>
                  <a:cubicBezTo>
                    <a:pt x="0" y="104267"/>
                    <a:pt x="104267" y="0"/>
                    <a:pt x="233045" y="0"/>
                  </a:cubicBezTo>
                  <a:lnTo>
                    <a:pt x="7021830" y="0"/>
                  </a:lnTo>
                  <a:cubicBezTo>
                    <a:pt x="7150481" y="0"/>
                    <a:pt x="7254875" y="104267"/>
                    <a:pt x="7254875" y="233045"/>
                  </a:cubicBezTo>
                  <a:lnTo>
                    <a:pt x="7254875" y="1165098"/>
                  </a:lnTo>
                  <a:cubicBezTo>
                    <a:pt x="7254875" y="1293749"/>
                    <a:pt x="7150608" y="1398143"/>
                    <a:pt x="7021830" y="1398143"/>
                  </a:cubicBezTo>
                  <a:lnTo>
                    <a:pt x="233045" y="1398143"/>
                  </a:lnTo>
                  <a:cubicBezTo>
                    <a:pt x="104267" y="1398143"/>
                    <a:pt x="0" y="1293749"/>
                    <a:pt x="0" y="1165098"/>
                  </a:cubicBezTo>
                  <a:close/>
                </a:path>
              </a:pathLst>
            </a:custGeom>
            <a:solidFill>
              <a:srgbClr val="12273B"/>
            </a:solidFill>
            <a:ln w="19065" cap="sq">
              <a:solidFill>
                <a:srgbClr val="304F67"/>
              </a:solidFill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424108" y="7686961"/>
            <a:ext cx="82363" cy="1029500"/>
            <a:chOff x="0" y="0"/>
            <a:chExt cx="109817" cy="137266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9855" cy="1372616"/>
            </a:xfrm>
            <a:custGeom>
              <a:avLst/>
              <a:gdLst/>
              <a:ahLst/>
              <a:cxnLst/>
              <a:rect l="l" t="t" r="r" b="b"/>
              <a:pathLst>
                <a:path w="109855" h="1372616">
                  <a:moveTo>
                    <a:pt x="0" y="0"/>
                  </a:moveTo>
                  <a:lnTo>
                    <a:pt x="109855" y="0"/>
                  </a:lnTo>
                  <a:lnTo>
                    <a:pt x="109855" y="1372616"/>
                  </a:lnTo>
                  <a:lnTo>
                    <a:pt x="0" y="1372616"/>
                  </a:lnTo>
                  <a:close/>
                </a:path>
              </a:pathLst>
            </a:custGeom>
            <a:solidFill>
              <a:srgbClr val="278DD6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12015073" y="7677436"/>
            <a:ext cx="5441118" cy="1048569"/>
            <a:chOff x="0" y="0"/>
            <a:chExt cx="7254824" cy="139809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254875" cy="1398143"/>
            </a:xfrm>
            <a:custGeom>
              <a:avLst/>
              <a:gdLst/>
              <a:ahLst/>
              <a:cxnLst/>
              <a:rect l="l" t="t" r="r" b="b"/>
              <a:pathLst>
                <a:path w="7254875" h="1398143">
                  <a:moveTo>
                    <a:pt x="0" y="233045"/>
                  </a:moveTo>
                  <a:cubicBezTo>
                    <a:pt x="0" y="104267"/>
                    <a:pt x="104267" y="0"/>
                    <a:pt x="233045" y="0"/>
                  </a:cubicBezTo>
                  <a:lnTo>
                    <a:pt x="7021830" y="0"/>
                  </a:lnTo>
                  <a:cubicBezTo>
                    <a:pt x="7150481" y="0"/>
                    <a:pt x="7254875" y="104267"/>
                    <a:pt x="7254875" y="233045"/>
                  </a:cubicBezTo>
                  <a:lnTo>
                    <a:pt x="7254875" y="1165098"/>
                  </a:lnTo>
                  <a:cubicBezTo>
                    <a:pt x="7254875" y="1293749"/>
                    <a:pt x="7150608" y="1398143"/>
                    <a:pt x="7021830" y="1398143"/>
                  </a:cubicBezTo>
                  <a:lnTo>
                    <a:pt x="233045" y="1398143"/>
                  </a:lnTo>
                  <a:cubicBezTo>
                    <a:pt x="104267" y="1398143"/>
                    <a:pt x="0" y="1293749"/>
                    <a:pt x="0" y="1165098"/>
                  </a:cubicBezTo>
                  <a:close/>
                </a:path>
              </a:pathLst>
            </a:custGeom>
            <a:solidFill>
              <a:srgbClr val="12273B"/>
            </a:solidFill>
            <a:ln w="19065" cap="sq">
              <a:solidFill>
                <a:srgbClr val="304F67"/>
              </a:solidFill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12024608" y="7686961"/>
            <a:ext cx="82363" cy="1029500"/>
            <a:chOff x="0" y="0"/>
            <a:chExt cx="109817" cy="137266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9855" cy="1372616"/>
            </a:xfrm>
            <a:custGeom>
              <a:avLst/>
              <a:gdLst/>
              <a:ahLst/>
              <a:cxnLst/>
              <a:rect l="l" t="t" r="r" b="b"/>
              <a:pathLst>
                <a:path w="109855" h="1372616">
                  <a:moveTo>
                    <a:pt x="0" y="0"/>
                  </a:moveTo>
                  <a:lnTo>
                    <a:pt x="109855" y="0"/>
                  </a:lnTo>
                  <a:lnTo>
                    <a:pt x="109855" y="1372616"/>
                  </a:lnTo>
                  <a:lnTo>
                    <a:pt x="0" y="1372616"/>
                  </a:lnTo>
                  <a:close/>
                </a:path>
              </a:pathLst>
            </a:custGeom>
            <a:solidFill>
              <a:srgbClr val="F1BE27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617706" y="9471441"/>
            <a:ext cx="17062313" cy="20593"/>
            <a:chOff x="0" y="0"/>
            <a:chExt cx="22749751" cy="27457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2749763" cy="27432"/>
            </a:xfrm>
            <a:custGeom>
              <a:avLst/>
              <a:gdLst/>
              <a:ahLst/>
              <a:cxnLst/>
              <a:rect l="l" t="t" r="r" b="b"/>
              <a:pathLst>
                <a:path w="22749763" h="27432">
                  <a:moveTo>
                    <a:pt x="0" y="0"/>
                  </a:moveTo>
                  <a:lnTo>
                    <a:pt x="22749763" y="0"/>
                  </a:lnTo>
                  <a:lnTo>
                    <a:pt x="22749763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304F67"/>
            </a:solidFill>
          </p:spPr>
        </p:sp>
      </p:grpSp>
      <p:sp>
        <p:nvSpPr>
          <p:cNvPr id="25" name="Freeform 25"/>
          <p:cNvSpPr/>
          <p:nvPr/>
        </p:nvSpPr>
        <p:spPr>
          <a:xfrm>
            <a:off x="14759907" y="2411188"/>
            <a:ext cx="2499393" cy="833131"/>
          </a:xfrm>
          <a:custGeom>
            <a:avLst/>
            <a:gdLst/>
            <a:ahLst/>
            <a:cxnLst/>
            <a:rect l="l" t="t" r="r" b="b"/>
            <a:pathLst>
              <a:path w="2499393" h="833131">
                <a:moveTo>
                  <a:pt x="0" y="0"/>
                </a:moveTo>
                <a:lnTo>
                  <a:pt x="2499393" y="0"/>
                </a:lnTo>
                <a:lnTo>
                  <a:pt x="2499393" y="833131"/>
                </a:lnTo>
                <a:lnTo>
                  <a:pt x="0" y="8331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1299391" y="4058126"/>
            <a:ext cx="15740120" cy="39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SYSTEM / WORKFLOW DIAGRAM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99391" y="7970244"/>
            <a:ext cx="4552836" cy="32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 dirty="0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INPUT : PATIENT DETAILS , VITALS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899891" y="7970244"/>
            <a:ext cx="4552836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 dirty="0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PROCESSING  USING NEURAL NETWORK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500400" y="7970244"/>
            <a:ext cx="4552836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 dirty="0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RECOMMENDATION AND DETAILED REPORT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77773" y="9672352"/>
            <a:ext cx="13543845" cy="261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B1C0CD"/>
                </a:solidFill>
                <a:latin typeface="Aptos"/>
                <a:ea typeface="Aptos"/>
                <a:cs typeface="Aptos"/>
                <a:sym typeface="Aptos"/>
              </a:rPr>
              <a:t>VMEDITHON 3.0  •  HACKATHON &amp; BUILDATHON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6838047" y="9626975"/>
            <a:ext cx="503453" cy="320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1">
                <a:solidFill>
                  <a:srgbClr val="2AC976"/>
                </a:solidFill>
                <a:latin typeface="Aptos Bold"/>
                <a:ea typeface="Aptos Bold"/>
                <a:cs typeface="Aptos Bold"/>
                <a:sym typeface="Aptos Bold"/>
              </a:rPr>
              <a:t>4/7</a:t>
            </a:r>
          </a:p>
        </p:txBody>
      </p:sp>
      <p:sp>
        <p:nvSpPr>
          <p:cNvPr id="33" name="Freeform 33"/>
          <p:cNvSpPr/>
          <p:nvPr/>
        </p:nvSpPr>
        <p:spPr>
          <a:xfrm>
            <a:off x="505649" y="19050"/>
            <a:ext cx="2276856" cy="1955414"/>
          </a:xfrm>
          <a:custGeom>
            <a:avLst/>
            <a:gdLst/>
            <a:ahLst/>
            <a:cxnLst/>
            <a:rect l="l" t="t" r="r" b="b"/>
            <a:pathLst>
              <a:path w="2276856" h="1955414">
                <a:moveTo>
                  <a:pt x="0" y="0"/>
                </a:moveTo>
                <a:lnTo>
                  <a:pt x="2276856" y="0"/>
                </a:lnTo>
                <a:lnTo>
                  <a:pt x="2276856" y="1955414"/>
                </a:lnTo>
                <a:lnTo>
                  <a:pt x="0" y="19554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157646" b="-100000"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3891143" y="9525"/>
            <a:ext cx="2059249" cy="2186645"/>
          </a:xfrm>
          <a:custGeom>
            <a:avLst/>
            <a:gdLst/>
            <a:ahLst/>
            <a:cxnLst/>
            <a:rect l="l" t="t" r="r" b="b"/>
            <a:pathLst>
              <a:path w="2059249" h="2186645">
                <a:moveTo>
                  <a:pt x="0" y="0"/>
                </a:moveTo>
                <a:lnTo>
                  <a:pt x="2059249" y="0"/>
                </a:lnTo>
                <a:lnTo>
                  <a:pt x="2059249" y="2186645"/>
                </a:lnTo>
                <a:lnTo>
                  <a:pt x="0" y="21866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8791" b="-87588"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5603719" y="336157"/>
            <a:ext cx="2016514" cy="1935237"/>
          </a:xfrm>
          <a:custGeom>
            <a:avLst/>
            <a:gdLst/>
            <a:ahLst/>
            <a:cxnLst/>
            <a:rect l="l" t="t" r="r" b="b"/>
            <a:pathLst>
              <a:path w="2016514" h="1935237">
                <a:moveTo>
                  <a:pt x="0" y="0"/>
                </a:moveTo>
                <a:lnTo>
                  <a:pt x="2016514" y="0"/>
                </a:lnTo>
                <a:lnTo>
                  <a:pt x="2016514" y="1935238"/>
                </a:lnTo>
                <a:lnTo>
                  <a:pt x="0" y="19352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09871" r="-202118"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10837545" y="71434"/>
            <a:ext cx="3650548" cy="2464684"/>
          </a:xfrm>
          <a:custGeom>
            <a:avLst/>
            <a:gdLst/>
            <a:ahLst/>
            <a:cxnLst/>
            <a:rect l="l" t="t" r="r" b="b"/>
            <a:pathLst>
              <a:path w="3650548" h="2464684">
                <a:moveTo>
                  <a:pt x="0" y="0"/>
                </a:moveTo>
                <a:lnTo>
                  <a:pt x="3650547" y="0"/>
                </a:lnTo>
                <a:lnTo>
                  <a:pt x="3650547" y="2464684"/>
                </a:lnTo>
                <a:lnTo>
                  <a:pt x="0" y="24646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8505" t="-153689" r="-87488" b="-18834"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16192765" y="336157"/>
            <a:ext cx="1794017" cy="1957095"/>
          </a:xfrm>
          <a:custGeom>
            <a:avLst/>
            <a:gdLst/>
            <a:ahLst/>
            <a:cxnLst/>
            <a:rect l="l" t="t" r="r" b="b"/>
            <a:pathLst>
              <a:path w="1794017" h="1957095">
                <a:moveTo>
                  <a:pt x="0" y="0"/>
                </a:moveTo>
                <a:lnTo>
                  <a:pt x="1794018" y="0"/>
                </a:lnTo>
                <a:lnTo>
                  <a:pt x="1794018" y="1957095"/>
                </a:lnTo>
                <a:lnTo>
                  <a:pt x="0" y="19570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55724" t="-115126" r="-9421" b="-8019"/>
            </a:stretch>
          </a:blipFill>
        </p:spPr>
      </p:sp>
      <p:grpSp>
        <p:nvGrpSpPr>
          <p:cNvPr id="38" name="Group 38"/>
          <p:cNvGrpSpPr/>
          <p:nvPr/>
        </p:nvGrpSpPr>
        <p:grpSpPr>
          <a:xfrm>
            <a:off x="14650017" y="631433"/>
            <a:ext cx="1312757" cy="1312757"/>
            <a:chOff x="0" y="0"/>
            <a:chExt cx="812800" cy="8128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0" name="TextBox 40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1"/>
                </a:lnSpc>
              </a:pPr>
              <a:endParaRPr/>
            </a:p>
          </p:txBody>
        </p:sp>
      </p:grpSp>
      <p:sp>
        <p:nvSpPr>
          <p:cNvPr id="41" name="Freeform 41"/>
          <p:cNvSpPr/>
          <p:nvPr/>
        </p:nvSpPr>
        <p:spPr>
          <a:xfrm>
            <a:off x="15016504" y="865339"/>
            <a:ext cx="681540" cy="844946"/>
          </a:xfrm>
          <a:custGeom>
            <a:avLst/>
            <a:gdLst/>
            <a:ahLst/>
            <a:cxnLst/>
            <a:rect l="l" t="t" r="r" b="b"/>
            <a:pathLst>
              <a:path w="681540" h="844946">
                <a:moveTo>
                  <a:pt x="0" y="0"/>
                </a:moveTo>
                <a:lnTo>
                  <a:pt x="681540" y="0"/>
                </a:lnTo>
                <a:lnTo>
                  <a:pt x="681540" y="844946"/>
                </a:lnTo>
                <a:lnTo>
                  <a:pt x="0" y="8449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519879"/>
            </a:stretch>
          </a:blipFill>
        </p:spPr>
      </p:sp>
      <p:sp>
        <p:nvSpPr>
          <p:cNvPr id="42" name="Freeform 42"/>
          <p:cNvSpPr/>
          <p:nvPr/>
        </p:nvSpPr>
        <p:spPr>
          <a:xfrm>
            <a:off x="2685759" y="420802"/>
            <a:ext cx="1264569" cy="1422171"/>
          </a:xfrm>
          <a:custGeom>
            <a:avLst/>
            <a:gdLst/>
            <a:ahLst/>
            <a:cxnLst/>
            <a:rect l="l" t="t" r="r" b="b"/>
            <a:pathLst>
              <a:path w="1264569" h="1422171">
                <a:moveTo>
                  <a:pt x="0" y="0"/>
                </a:moveTo>
                <a:lnTo>
                  <a:pt x="1264569" y="0"/>
                </a:lnTo>
                <a:lnTo>
                  <a:pt x="1264569" y="1422171"/>
                </a:lnTo>
                <a:lnTo>
                  <a:pt x="0" y="14221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7351107" y="672521"/>
            <a:ext cx="3600082" cy="1192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3"/>
              </a:lnSpc>
            </a:pPr>
            <a:r>
              <a:rPr lang="en-US" sz="227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School of Computer Science &amp; Engineering</a:t>
            </a:r>
          </a:p>
          <a:p>
            <a:pPr algn="ctr">
              <a:lnSpc>
                <a:spcPts val="3183"/>
              </a:lnSpc>
            </a:pPr>
            <a:r>
              <a:rPr lang="en-US" sz="227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(SCOPE)</a:t>
            </a:r>
          </a:p>
        </p:txBody>
      </p:sp>
      <p:grpSp>
        <p:nvGrpSpPr>
          <p:cNvPr id="44" name="Group 6">
            <a:extLst>
              <a:ext uri="{FF2B5EF4-FFF2-40B4-BE49-F238E27FC236}">
                <a16:creationId xmlns:a16="http://schemas.microsoft.com/office/drawing/2014/main" id="{D4EE706C-A377-1BC3-B415-D9FF7432FCC5}"/>
              </a:ext>
            </a:extLst>
          </p:cNvPr>
          <p:cNvGrpSpPr/>
          <p:nvPr/>
        </p:nvGrpSpPr>
        <p:grpSpPr>
          <a:xfrm>
            <a:off x="6690227" y="3819764"/>
            <a:ext cx="4762500" cy="1000125"/>
            <a:chOff x="0" y="0"/>
            <a:chExt cx="6350000" cy="1333500"/>
          </a:xfrm>
        </p:grpSpPr>
        <p:sp>
          <p:nvSpPr>
            <p:cNvPr id="45" name="Freeform 7">
              <a:extLst>
                <a:ext uri="{FF2B5EF4-FFF2-40B4-BE49-F238E27FC236}">
                  <a16:creationId xmlns:a16="http://schemas.microsoft.com/office/drawing/2014/main" id="{8DB20BCA-A7AF-1836-AFC2-5AEDF46C23B9}"/>
                </a:ext>
              </a:extLst>
            </p:cNvPr>
            <p:cNvSpPr/>
            <p:nvPr/>
          </p:nvSpPr>
          <p:spPr>
            <a:xfrm>
              <a:off x="0" y="0"/>
              <a:ext cx="6350000" cy="1333500"/>
            </a:xfrm>
            <a:custGeom>
              <a:avLst/>
              <a:gdLst/>
              <a:ahLst/>
              <a:cxnLst/>
              <a:rect l="l" t="t" r="r" b="b"/>
              <a:pathLst>
                <a:path w="6350000" h="1333500">
                  <a:moveTo>
                    <a:pt x="25400" y="0"/>
                  </a:moveTo>
                  <a:lnTo>
                    <a:pt x="6324600" y="0"/>
                  </a:lnTo>
                  <a:cubicBezTo>
                    <a:pt x="6338628" y="0"/>
                    <a:pt x="6350000" y="11372"/>
                    <a:pt x="6350000" y="25400"/>
                  </a:cubicBezTo>
                  <a:lnTo>
                    <a:pt x="6350000" y="1308100"/>
                  </a:lnTo>
                  <a:cubicBezTo>
                    <a:pt x="6350000" y="1322128"/>
                    <a:pt x="6338628" y="1333500"/>
                    <a:pt x="6324600" y="1333500"/>
                  </a:cubicBezTo>
                  <a:lnTo>
                    <a:pt x="25400" y="1333500"/>
                  </a:lnTo>
                  <a:cubicBezTo>
                    <a:pt x="11372" y="1333500"/>
                    <a:pt x="0" y="1322128"/>
                    <a:pt x="0" y="1308100"/>
                  </a:cubicBezTo>
                  <a:lnTo>
                    <a:pt x="0" y="25400"/>
                  </a:lnTo>
                  <a:cubicBezTo>
                    <a:pt x="0" y="11372"/>
                    <a:pt x="11372" y="0"/>
                    <a:pt x="25400" y="0"/>
                  </a:cubicBezTo>
                  <a:close/>
                </a:path>
              </a:pathLst>
            </a:custGeom>
            <a:solidFill>
              <a:srgbClr val="14B8A6"/>
            </a:solidFill>
            <a:ln w="9525" cap="sq">
              <a:solidFill>
                <a:srgbClr val="334155"/>
              </a:solidFill>
              <a:prstDash val="solid"/>
              <a:miter/>
            </a:ln>
          </p:spPr>
        </p:sp>
        <p:sp>
          <p:nvSpPr>
            <p:cNvPr id="46" name="TextBox 8">
              <a:extLst>
                <a:ext uri="{FF2B5EF4-FFF2-40B4-BE49-F238E27FC236}">
                  <a16:creationId xmlns:a16="http://schemas.microsoft.com/office/drawing/2014/main" id="{0FCDCC33-A2EA-4A2A-558A-369DB45801CC}"/>
                </a:ext>
              </a:extLst>
            </p:cNvPr>
            <p:cNvSpPr txBox="1"/>
            <p:nvPr/>
          </p:nvSpPr>
          <p:spPr>
            <a:xfrm>
              <a:off x="0" y="9525"/>
              <a:ext cx="6350000" cy="1323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 dirty="0">
                  <a:solidFill>
                    <a:srgbClr val="F8FA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UNIFIED PATIENT RECORD</a:t>
              </a:r>
            </a:p>
          </p:txBody>
        </p:sp>
      </p:grpSp>
      <p:grpSp>
        <p:nvGrpSpPr>
          <p:cNvPr id="47" name="Group 9">
            <a:extLst>
              <a:ext uri="{FF2B5EF4-FFF2-40B4-BE49-F238E27FC236}">
                <a16:creationId xmlns:a16="http://schemas.microsoft.com/office/drawing/2014/main" id="{75BCA386-F73D-3747-0DD4-9ED4DE5E4B34}"/>
              </a:ext>
            </a:extLst>
          </p:cNvPr>
          <p:cNvGrpSpPr/>
          <p:nvPr/>
        </p:nvGrpSpPr>
        <p:grpSpPr>
          <a:xfrm>
            <a:off x="1238250" y="5810250"/>
            <a:ext cx="3238500" cy="1238250"/>
            <a:chOff x="0" y="0"/>
            <a:chExt cx="4318000" cy="1651000"/>
          </a:xfrm>
        </p:grpSpPr>
        <p:sp>
          <p:nvSpPr>
            <p:cNvPr id="48" name="Freeform 10">
              <a:extLst>
                <a:ext uri="{FF2B5EF4-FFF2-40B4-BE49-F238E27FC236}">
                  <a16:creationId xmlns:a16="http://schemas.microsoft.com/office/drawing/2014/main" id="{8AB3992B-6B41-C2EA-EC1E-C4C597A979AF}"/>
                </a:ext>
              </a:extLst>
            </p:cNvPr>
            <p:cNvSpPr/>
            <p:nvPr/>
          </p:nvSpPr>
          <p:spPr>
            <a:xfrm>
              <a:off x="0" y="0"/>
              <a:ext cx="4318000" cy="1651000"/>
            </a:xfrm>
            <a:custGeom>
              <a:avLst/>
              <a:gdLst/>
              <a:ahLst/>
              <a:cxnLst/>
              <a:rect l="l" t="t" r="r" b="b"/>
              <a:pathLst>
                <a:path w="4318000" h="1651000">
                  <a:moveTo>
                    <a:pt x="37353" y="0"/>
                  </a:moveTo>
                  <a:lnTo>
                    <a:pt x="4280647" y="0"/>
                  </a:lnTo>
                  <a:cubicBezTo>
                    <a:pt x="4290554" y="0"/>
                    <a:pt x="4300055" y="3935"/>
                    <a:pt x="4307060" y="10940"/>
                  </a:cubicBezTo>
                  <a:cubicBezTo>
                    <a:pt x="4314065" y="17945"/>
                    <a:pt x="4318000" y="27446"/>
                    <a:pt x="4318000" y="37353"/>
                  </a:cubicBezTo>
                  <a:lnTo>
                    <a:pt x="4318000" y="1613647"/>
                  </a:lnTo>
                  <a:cubicBezTo>
                    <a:pt x="4318000" y="1623554"/>
                    <a:pt x="4314065" y="1633055"/>
                    <a:pt x="4307060" y="1640060"/>
                  </a:cubicBezTo>
                  <a:cubicBezTo>
                    <a:pt x="4300055" y="1647065"/>
                    <a:pt x="4290554" y="1651000"/>
                    <a:pt x="4280647" y="1651000"/>
                  </a:cubicBezTo>
                  <a:lnTo>
                    <a:pt x="37353" y="1651000"/>
                  </a:lnTo>
                  <a:cubicBezTo>
                    <a:pt x="27446" y="1651000"/>
                    <a:pt x="17945" y="1647065"/>
                    <a:pt x="10940" y="1640060"/>
                  </a:cubicBezTo>
                  <a:cubicBezTo>
                    <a:pt x="3935" y="1633055"/>
                    <a:pt x="0" y="1623554"/>
                    <a:pt x="0" y="1613647"/>
                  </a:cubicBezTo>
                  <a:lnTo>
                    <a:pt x="0" y="37353"/>
                  </a:lnTo>
                  <a:cubicBezTo>
                    <a:pt x="0" y="27446"/>
                    <a:pt x="3935" y="17945"/>
                    <a:pt x="10940" y="10940"/>
                  </a:cubicBezTo>
                  <a:cubicBezTo>
                    <a:pt x="17945" y="3935"/>
                    <a:pt x="27446" y="0"/>
                    <a:pt x="37353" y="0"/>
                  </a:cubicBezTo>
                  <a:close/>
                </a:path>
              </a:pathLst>
            </a:custGeom>
            <a:solidFill>
              <a:srgbClr val="102B34"/>
            </a:solidFill>
            <a:ln w="9525" cap="sq">
              <a:solidFill>
                <a:srgbClr val="334155"/>
              </a:solidFill>
              <a:prstDash val="solid"/>
              <a:miter/>
            </a:ln>
          </p:spPr>
        </p:sp>
        <p:sp>
          <p:nvSpPr>
            <p:cNvPr id="49" name="TextBox 11">
              <a:extLst>
                <a:ext uri="{FF2B5EF4-FFF2-40B4-BE49-F238E27FC236}">
                  <a16:creationId xmlns:a16="http://schemas.microsoft.com/office/drawing/2014/main" id="{4F6F6814-8FF1-DFCD-C493-0C7BDAF78C51}"/>
                </a:ext>
              </a:extLst>
            </p:cNvPr>
            <p:cNvSpPr txBox="1"/>
            <p:nvPr/>
          </p:nvSpPr>
          <p:spPr>
            <a:xfrm>
              <a:off x="0" y="9525"/>
              <a:ext cx="4318000" cy="1641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F8FA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OPD</a:t>
              </a:r>
            </a:p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F8FA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modular triage</a:t>
              </a:r>
            </a:p>
          </p:txBody>
        </p:sp>
      </p:grpSp>
      <p:sp>
        <p:nvSpPr>
          <p:cNvPr id="50" name="AutoShape 12">
            <a:extLst>
              <a:ext uri="{FF2B5EF4-FFF2-40B4-BE49-F238E27FC236}">
                <a16:creationId xmlns:a16="http://schemas.microsoft.com/office/drawing/2014/main" id="{AAB4A260-AD6E-C367-79F8-56E540035359}"/>
              </a:ext>
            </a:extLst>
          </p:cNvPr>
          <p:cNvSpPr/>
          <p:nvPr/>
        </p:nvSpPr>
        <p:spPr>
          <a:xfrm flipH="1">
            <a:off x="2857500" y="4000500"/>
            <a:ext cx="6286500" cy="1809750"/>
          </a:xfrm>
          <a:prstGeom prst="line">
            <a:avLst/>
          </a:prstGeom>
          <a:ln w="19050" cap="flat">
            <a:solidFill>
              <a:srgbClr val="14B8A6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1" name="Group 13">
            <a:extLst>
              <a:ext uri="{FF2B5EF4-FFF2-40B4-BE49-F238E27FC236}">
                <a16:creationId xmlns:a16="http://schemas.microsoft.com/office/drawing/2014/main" id="{FC345DB6-D897-76CD-20F1-118E52009BAA}"/>
              </a:ext>
            </a:extLst>
          </p:cNvPr>
          <p:cNvGrpSpPr/>
          <p:nvPr/>
        </p:nvGrpSpPr>
        <p:grpSpPr>
          <a:xfrm>
            <a:off x="5334000" y="5810250"/>
            <a:ext cx="3238500" cy="1238250"/>
            <a:chOff x="0" y="0"/>
            <a:chExt cx="4318000" cy="1651000"/>
          </a:xfrm>
        </p:grpSpPr>
        <p:sp>
          <p:nvSpPr>
            <p:cNvPr id="52" name="Freeform 14">
              <a:extLst>
                <a:ext uri="{FF2B5EF4-FFF2-40B4-BE49-F238E27FC236}">
                  <a16:creationId xmlns:a16="http://schemas.microsoft.com/office/drawing/2014/main" id="{79039D05-3EBB-05EF-19A3-90CCA59E3444}"/>
                </a:ext>
              </a:extLst>
            </p:cNvPr>
            <p:cNvSpPr/>
            <p:nvPr/>
          </p:nvSpPr>
          <p:spPr>
            <a:xfrm>
              <a:off x="0" y="0"/>
              <a:ext cx="4318000" cy="1651000"/>
            </a:xfrm>
            <a:custGeom>
              <a:avLst/>
              <a:gdLst/>
              <a:ahLst/>
              <a:cxnLst/>
              <a:rect l="l" t="t" r="r" b="b"/>
              <a:pathLst>
                <a:path w="4318000" h="1651000">
                  <a:moveTo>
                    <a:pt x="37353" y="0"/>
                  </a:moveTo>
                  <a:lnTo>
                    <a:pt x="4280647" y="0"/>
                  </a:lnTo>
                  <a:cubicBezTo>
                    <a:pt x="4290554" y="0"/>
                    <a:pt x="4300055" y="3935"/>
                    <a:pt x="4307060" y="10940"/>
                  </a:cubicBezTo>
                  <a:cubicBezTo>
                    <a:pt x="4314065" y="17945"/>
                    <a:pt x="4318000" y="27446"/>
                    <a:pt x="4318000" y="37353"/>
                  </a:cubicBezTo>
                  <a:lnTo>
                    <a:pt x="4318000" y="1613647"/>
                  </a:lnTo>
                  <a:cubicBezTo>
                    <a:pt x="4318000" y="1623554"/>
                    <a:pt x="4314065" y="1633055"/>
                    <a:pt x="4307060" y="1640060"/>
                  </a:cubicBezTo>
                  <a:cubicBezTo>
                    <a:pt x="4300055" y="1647065"/>
                    <a:pt x="4290554" y="1651000"/>
                    <a:pt x="4280647" y="1651000"/>
                  </a:cubicBezTo>
                  <a:lnTo>
                    <a:pt x="37353" y="1651000"/>
                  </a:lnTo>
                  <a:cubicBezTo>
                    <a:pt x="27446" y="1651000"/>
                    <a:pt x="17945" y="1647065"/>
                    <a:pt x="10940" y="1640060"/>
                  </a:cubicBezTo>
                  <a:cubicBezTo>
                    <a:pt x="3935" y="1633055"/>
                    <a:pt x="0" y="1623554"/>
                    <a:pt x="0" y="1613647"/>
                  </a:cubicBezTo>
                  <a:lnTo>
                    <a:pt x="0" y="37353"/>
                  </a:lnTo>
                  <a:cubicBezTo>
                    <a:pt x="0" y="27446"/>
                    <a:pt x="3935" y="17945"/>
                    <a:pt x="10940" y="10940"/>
                  </a:cubicBezTo>
                  <a:cubicBezTo>
                    <a:pt x="17945" y="3935"/>
                    <a:pt x="27446" y="0"/>
                    <a:pt x="37353" y="0"/>
                  </a:cubicBezTo>
                  <a:close/>
                </a:path>
              </a:pathLst>
            </a:custGeom>
            <a:solidFill>
              <a:srgbClr val="102B34"/>
            </a:solidFill>
            <a:ln w="9525" cap="sq">
              <a:solidFill>
                <a:srgbClr val="334155"/>
              </a:solidFill>
              <a:prstDash val="solid"/>
              <a:miter/>
            </a:ln>
          </p:spPr>
        </p:sp>
        <p:sp>
          <p:nvSpPr>
            <p:cNvPr id="53" name="TextBox 15">
              <a:extLst>
                <a:ext uri="{FF2B5EF4-FFF2-40B4-BE49-F238E27FC236}">
                  <a16:creationId xmlns:a16="http://schemas.microsoft.com/office/drawing/2014/main" id="{DF8E3F1C-762B-ADB9-A76A-2E6AE5837AC8}"/>
                </a:ext>
              </a:extLst>
            </p:cNvPr>
            <p:cNvSpPr txBox="1"/>
            <p:nvPr/>
          </p:nvSpPr>
          <p:spPr>
            <a:xfrm>
              <a:off x="0" y="9525"/>
              <a:ext cx="4318000" cy="1641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F8FA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MCH</a:t>
              </a:r>
            </a:p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F8FA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modular triage</a:t>
              </a:r>
            </a:p>
          </p:txBody>
        </p:sp>
      </p:grpSp>
      <p:sp>
        <p:nvSpPr>
          <p:cNvPr id="54" name="AutoShape 16">
            <a:extLst>
              <a:ext uri="{FF2B5EF4-FFF2-40B4-BE49-F238E27FC236}">
                <a16:creationId xmlns:a16="http://schemas.microsoft.com/office/drawing/2014/main" id="{5717C88B-0B1A-F49F-21E8-157F201D247D}"/>
              </a:ext>
            </a:extLst>
          </p:cNvPr>
          <p:cNvSpPr/>
          <p:nvPr/>
        </p:nvSpPr>
        <p:spPr>
          <a:xfrm flipH="1">
            <a:off x="6710591" y="4021578"/>
            <a:ext cx="2190750" cy="1809750"/>
          </a:xfrm>
          <a:prstGeom prst="line">
            <a:avLst/>
          </a:prstGeom>
          <a:ln w="19050" cap="flat">
            <a:solidFill>
              <a:srgbClr val="14B8A6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5" name="Group 17">
            <a:extLst>
              <a:ext uri="{FF2B5EF4-FFF2-40B4-BE49-F238E27FC236}">
                <a16:creationId xmlns:a16="http://schemas.microsoft.com/office/drawing/2014/main" id="{6E2F2A04-FD55-5924-9E8A-86A2F0B2300E}"/>
              </a:ext>
            </a:extLst>
          </p:cNvPr>
          <p:cNvGrpSpPr/>
          <p:nvPr/>
        </p:nvGrpSpPr>
        <p:grpSpPr>
          <a:xfrm>
            <a:off x="9429750" y="5810250"/>
            <a:ext cx="3238500" cy="1238250"/>
            <a:chOff x="0" y="0"/>
            <a:chExt cx="4318000" cy="1651000"/>
          </a:xfrm>
        </p:grpSpPr>
        <p:sp>
          <p:nvSpPr>
            <p:cNvPr id="56" name="Freeform 18">
              <a:extLst>
                <a:ext uri="{FF2B5EF4-FFF2-40B4-BE49-F238E27FC236}">
                  <a16:creationId xmlns:a16="http://schemas.microsoft.com/office/drawing/2014/main" id="{8C92D36F-9A29-BC37-C259-3895997B4EA5}"/>
                </a:ext>
              </a:extLst>
            </p:cNvPr>
            <p:cNvSpPr/>
            <p:nvPr/>
          </p:nvSpPr>
          <p:spPr>
            <a:xfrm>
              <a:off x="0" y="0"/>
              <a:ext cx="4318000" cy="1651000"/>
            </a:xfrm>
            <a:custGeom>
              <a:avLst/>
              <a:gdLst/>
              <a:ahLst/>
              <a:cxnLst/>
              <a:rect l="l" t="t" r="r" b="b"/>
              <a:pathLst>
                <a:path w="4318000" h="1651000">
                  <a:moveTo>
                    <a:pt x="37353" y="0"/>
                  </a:moveTo>
                  <a:lnTo>
                    <a:pt x="4280647" y="0"/>
                  </a:lnTo>
                  <a:cubicBezTo>
                    <a:pt x="4290554" y="0"/>
                    <a:pt x="4300055" y="3935"/>
                    <a:pt x="4307060" y="10940"/>
                  </a:cubicBezTo>
                  <a:cubicBezTo>
                    <a:pt x="4314065" y="17945"/>
                    <a:pt x="4318000" y="27446"/>
                    <a:pt x="4318000" y="37353"/>
                  </a:cubicBezTo>
                  <a:lnTo>
                    <a:pt x="4318000" y="1613647"/>
                  </a:lnTo>
                  <a:cubicBezTo>
                    <a:pt x="4318000" y="1623554"/>
                    <a:pt x="4314065" y="1633055"/>
                    <a:pt x="4307060" y="1640060"/>
                  </a:cubicBezTo>
                  <a:cubicBezTo>
                    <a:pt x="4300055" y="1647065"/>
                    <a:pt x="4290554" y="1651000"/>
                    <a:pt x="4280647" y="1651000"/>
                  </a:cubicBezTo>
                  <a:lnTo>
                    <a:pt x="37353" y="1651000"/>
                  </a:lnTo>
                  <a:cubicBezTo>
                    <a:pt x="27446" y="1651000"/>
                    <a:pt x="17945" y="1647065"/>
                    <a:pt x="10940" y="1640060"/>
                  </a:cubicBezTo>
                  <a:cubicBezTo>
                    <a:pt x="3935" y="1633055"/>
                    <a:pt x="0" y="1623554"/>
                    <a:pt x="0" y="1613647"/>
                  </a:cubicBezTo>
                  <a:lnTo>
                    <a:pt x="0" y="37353"/>
                  </a:lnTo>
                  <a:cubicBezTo>
                    <a:pt x="0" y="27446"/>
                    <a:pt x="3935" y="17945"/>
                    <a:pt x="10940" y="10940"/>
                  </a:cubicBezTo>
                  <a:cubicBezTo>
                    <a:pt x="17945" y="3935"/>
                    <a:pt x="27446" y="0"/>
                    <a:pt x="37353" y="0"/>
                  </a:cubicBezTo>
                  <a:close/>
                </a:path>
              </a:pathLst>
            </a:custGeom>
            <a:solidFill>
              <a:srgbClr val="102B34"/>
            </a:solidFill>
            <a:ln w="9525" cap="sq">
              <a:solidFill>
                <a:srgbClr val="334155"/>
              </a:solidFill>
              <a:prstDash val="solid"/>
              <a:miter/>
            </a:ln>
          </p:spPr>
        </p:sp>
        <p:sp>
          <p:nvSpPr>
            <p:cNvPr id="57" name="TextBox 19">
              <a:extLst>
                <a:ext uri="{FF2B5EF4-FFF2-40B4-BE49-F238E27FC236}">
                  <a16:creationId xmlns:a16="http://schemas.microsoft.com/office/drawing/2014/main" id="{9A384933-F4CB-C1C5-7FD2-4FB935F06850}"/>
                </a:ext>
              </a:extLst>
            </p:cNvPr>
            <p:cNvSpPr txBox="1"/>
            <p:nvPr/>
          </p:nvSpPr>
          <p:spPr>
            <a:xfrm>
              <a:off x="0" y="9525"/>
              <a:ext cx="4318000" cy="1641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F8FA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PEDIATRIC</a:t>
              </a:r>
            </a:p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F8FA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modular triage</a:t>
              </a:r>
            </a:p>
          </p:txBody>
        </p:sp>
      </p:grpSp>
      <p:sp>
        <p:nvSpPr>
          <p:cNvPr id="58" name="AutoShape 20">
            <a:extLst>
              <a:ext uri="{FF2B5EF4-FFF2-40B4-BE49-F238E27FC236}">
                <a16:creationId xmlns:a16="http://schemas.microsoft.com/office/drawing/2014/main" id="{2BFB01D5-AEC5-D219-7F91-700E3C29B7D2}"/>
              </a:ext>
            </a:extLst>
          </p:cNvPr>
          <p:cNvSpPr/>
          <p:nvPr/>
        </p:nvSpPr>
        <p:spPr>
          <a:xfrm>
            <a:off x="9144000" y="4000500"/>
            <a:ext cx="1905000" cy="1809750"/>
          </a:xfrm>
          <a:prstGeom prst="line">
            <a:avLst/>
          </a:prstGeom>
          <a:ln w="19050" cap="flat">
            <a:solidFill>
              <a:srgbClr val="14B8A6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9" name="Group 21">
            <a:extLst>
              <a:ext uri="{FF2B5EF4-FFF2-40B4-BE49-F238E27FC236}">
                <a16:creationId xmlns:a16="http://schemas.microsoft.com/office/drawing/2014/main" id="{65F9FA7D-3196-F5AC-B362-9225853F0475}"/>
              </a:ext>
            </a:extLst>
          </p:cNvPr>
          <p:cNvGrpSpPr/>
          <p:nvPr/>
        </p:nvGrpSpPr>
        <p:grpSpPr>
          <a:xfrm>
            <a:off x="13525500" y="5810250"/>
            <a:ext cx="3238500" cy="1238250"/>
            <a:chOff x="0" y="0"/>
            <a:chExt cx="4318000" cy="1651000"/>
          </a:xfrm>
        </p:grpSpPr>
        <p:sp>
          <p:nvSpPr>
            <p:cNvPr id="60" name="Freeform 22">
              <a:extLst>
                <a:ext uri="{FF2B5EF4-FFF2-40B4-BE49-F238E27FC236}">
                  <a16:creationId xmlns:a16="http://schemas.microsoft.com/office/drawing/2014/main" id="{0159B5C8-D09B-A950-2009-83AF669F8842}"/>
                </a:ext>
              </a:extLst>
            </p:cNvPr>
            <p:cNvSpPr/>
            <p:nvPr/>
          </p:nvSpPr>
          <p:spPr>
            <a:xfrm>
              <a:off x="0" y="0"/>
              <a:ext cx="4318000" cy="1651000"/>
            </a:xfrm>
            <a:custGeom>
              <a:avLst/>
              <a:gdLst/>
              <a:ahLst/>
              <a:cxnLst/>
              <a:rect l="l" t="t" r="r" b="b"/>
              <a:pathLst>
                <a:path w="4318000" h="1651000">
                  <a:moveTo>
                    <a:pt x="37353" y="0"/>
                  </a:moveTo>
                  <a:lnTo>
                    <a:pt x="4280647" y="0"/>
                  </a:lnTo>
                  <a:cubicBezTo>
                    <a:pt x="4290554" y="0"/>
                    <a:pt x="4300055" y="3935"/>
                    <a:pt x="4307060" y="10940"/>
                  </a:cubicBezTo>
                  <a:cubicBezTo>
                    <a:pt x="4314065" y="17945"/>
                    <a:pt x="4318000" y="27446"/>
                    <a:pt x="4318000" y="37353"/>
                  </a:cubicBezTo>
                  <a:lnTo>
                    <a:pt x="4318000" y="1613647"/>
                  </a:lnTo>
                  <a:cubicBezTo>
                    <a:pt x="4318000" y="1623554"/>
                    <a:pt x="4314065" y="1633055"/>
                    <a:pt x="4307060" y="1640060"/>
                  </a:cubicBezTo>
                  <a:cubicBezTo>
                    <a:pt x="4300055" y="1647065"/>
                    <a:pt x="4290554" y="1651000"/>
                    <a:pt x="4280647" y="1651000"/>
                  </a:cubicBezTo>
                  <a:lnTo>
                    <a:pt x="37353" y="1651000"/>
                  </a:lnTo>
                  <a:cubicBezTo>
                    <a:pt x="27446" y="1651000"/>
                    <a:pt x="17945" y="1647065"/>
                    <a:pt x="10940" y="1640060"/>
                  </a:cubicBezTo>
                  <a:cubicBezTo>
                    <a:pt x="3935" y="1633055"/>
                    <a:pt x="0" y="1623554"/>
                    <a:pt x="0" y="1613647"/>
                  </a:cubicBezTo>
                  <a:lnTo>
                    <a:pt x="0" y="37353"/>
                  </a:lnTo>
                  <a:cubicBezTo>
                    <a:pt x="0" y="27446"/>
                    <a:pt x="3935" y="17945"/>
                    <a:pt x="10940" y="10940"/>
                  </a:cubicBezTo>
                  <a:cubicBezTo>
                    <a:pt x="17945" y="3935"/>
                    <a:pt x="27446" y="0"/>
                    <a:pt x="37353" y="0"/>
                  </a:cubicBezTo>
                  <a:close/>
                </a:path>
              </a:pathLst>
            </a:custGeom>
            <a:solidFill>
              <a:srgbClr val="102B34"/>
            </a:solidFill>
            <a:ln w="9525" cap="sq">
              <a:solidFill>
                <a:srgbClr val="334155"/>
              </a:solidFill>
              <a:prstDash val="solid"/>
              <a:miter/>
            </a:ln>
          </p:spPr>
        </p:sp>
        <p:sp>
          <p:nvSpPr>
            <p:cNvPr id="61" name="TextBox 23">
              <a:extLst>
                <a:ext uri="{FF2B5EF4-FFF2-40B4-BE49-F238E27FC236}">
                  <a16:creationId xmlns:a16="http://schemas.microsoft.com/office/drawing/2014/main" id="{3DC0D383-2E6B-00F0-79CE-4DC9FBE4BB74}"/>
                </a:ext>
              </a:extLst>
            </p:cNvPr>
            <p:cNvSpPr txBox="1"/>
            <p:nvPr/>
          </p:nvSpPr>
          <p:spPr>
            <a:xfrm>
              <a:off x="0" y="9525"/>
              <a:ext cx="4318000" cy="1641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F8FA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A&amp;E</a:t>
              </a:r>
            </a:p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F8FA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modular triage</a:t>
              </a:r>
            </a:p>
          </p:txBody>
        </p:sp>
      </p:grpSp>
      <p:sp>
        <p:nvSpPr>
          <p:cNvPr id="62" name="AutoShape 24">
            <a:extLst>
              <a:ext uri="{FF2B5EF4-FFF2-40B4-BE49-F238E27FC236}">
                <a16:creationId xmlns:a16="http://schemas.microsoft.com/office/drawing/2014/main" id="{3D94C40F-4338-C848-28E8-6216B8560134}"/>
              </a:ext>
            </a:extLst>
          </p:cNvPr>
          <p:cNvSpPr/>
          <p:nvPr/>
        </p:nvSpPr>
        <p:spPr>
          <a:xfrm>
            <a:off x="9144000" y="4000500"/>
            <a:ext cx="6000750" cy="1809750"/>
          </a:xfrm>
          <a:prstGeom prst="line">
            <a:avLst/>
          </a:prstGeom>
          <a:ln w="19050" cap="flat">
            <a:solidFill>
              <a:srgbClr val="14B8A6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6" b="-26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302297" cy="82363"/>
            <a:chOff x="0" y="0"/>
            <a:chExt cx="24403063" cy="10981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403050" cy="109855"/>
            </a:xfrm>
            <a:custGeom>
              <a:avLst/>
              <a:gdLst/>
              <a:ahLst/>
              <a:cxnLst/>
              <a:rect l="l" t="t" r="r" b="b"/>
              <a:pathLst>
                <a:path w="24403050" h="109855">
                  <a:moveTo>
                    <a:pt x="0" y="0"/>
                  </a:moveTo>
                  <a:lnTo>
                    <a:pt x="24403050" y="0"/>
                  </a:lnTo>
                  <a:lnTo>
                    <a:pt x="24403050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2AC976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0" y="10185225"/>
            <a:ext cx="18302297" cy="109814"/>
            <a:chOff x="0" y="0"/>
            <a:chExt cx="24403063" cy="14641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403050" cy="146431"/>
            </a:xfrm>
            <a:custGeom>
              <a:avLst/>
              <a:gdLst/>
              <a:ahLst/>
              <a:cxnLst/>
              <a:rect l="l" t="t" r="r" b="b"/>
              <a:pathLst>
                <a:path w="24403050" h="146431">
                  <a:moveTo>
                    <a:pt x="0" y="0"/>
                  </a:moveTo>
                  <a:lnTo>
                    <a:pt x="24403050" y="0"/>
                  </a:lnTo>
                  <a:lnTo>
                    <a:pt x="24403050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278DD6"/>
            </a:solidFill>
          </p:spPr>
        </p:sp>
      </p:grpSp>
      <p:sp>
        <p:nvSpPr>
          <p:cNvPr id="7" name="TextBox 7"/>
          <p:cNvSpPr txBox="1"/>
          <p:nvPr/>
        </p:nvSpPr>
        <p:spPr>
          <a:xfrm>
            <a:off x="846411" y="2224068"/>
            <a:ext cx="16151924" cy="859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1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04. INNOVATION &amp; DIFFERENTIATION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87587" y="3065602"/>
            <a:ext cx="15602855" cy="275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dirty="0">
                <a:solidFill>
                  <a:srgbClr val="B1C0CD"/>
                </a:solidFill>
                <a:latin typeface="Aptos"/>
                <a:ea typeface="Aptos"/>
                <a:cs typeface="Aptos"/>
                <a:sym typeface="Aptos"/>
              </a:rPr>
              <a:t>INTEGRATED SYSTEM FOR HOSPITAL AND  CLINIC KIOSK MANAGEMENT WITH DIGITAL TWINING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814073" y="3765318"/>
            <a:ext cx="5372491" cy="4960687"/>
            <a:chOff x="0" y="0"/>
            <a:chExt cx="7163321" cy="661424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163308" cy="6614160"/>
            </a:xfrm>
            <a:custGeom>
              <a:avLst/>
              <a:gdLst/>
              <a:ahLst/>
              <a:cxnLst/>
              <a:rect l="l" t="t" r="r" b="b"/>
              <a:pathLst>
                <a:path w="7163308" h="6614160">
                  <a:moveTo>
                    <a:pt x="0" y="1102360"/>
                  </a:moveTo>
                  <a:cubicBezTo>
                    <a:pt x="0" y="493522"/>
                    <a:pt x="493522" y="0"/>
                    <a:pt x="1102360" y="0"/>
                  </a:cubicBezTo>
                  <a:lnTo>
                    <a:pt x="6060948" y="0"/>
                  </a:lnTo>
                  <a:cubicBezTo>
                    <a:pt x="6669786" y="0"/>
                    <a:pt x="7163308" y="493522"/>
                    <a:pt x="7163308" y="1102360"/>
                  </a:cubicBezTo>
                  <a:lnTo>
                    <a:pt x="7163308" y="5511800"/>
                  </a:lnTo>
                  <a:cubicBezTo>
                    <a:pt x="7163308" y="6120638"/>
                    <a:pt x="6669786" y="6614160"/>
                    <a:pt x="6060948" y="6614160"/>
                  </a:cubicBezTo>
                  <a:lnTo>
                    <a:pt x="1102360" y="6614160"/>
                  </a:lnTo>
                  <a:cubicBezTo>
                    <a:pt x="493522" y="6614287"/>
                    <a:pt x="0" y="6120638"/>
                    <a:pt x="0" y="5511800"/>
                  </a:cubicBezTo>
                  <a:close/>
                </a:path>
              </a:pathLst>
            </a:custGeom>
            <a:solidFill>
              <a:srgbClr val="12273B"/>
            </a:solidFill>
            <a:ln w="19065" cap="sq">
              <a:solidFill>
                <a:srgbClr val="304F67"/>
              </a:solidFill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469485" y="3765318"/>
            <a:ext cx="5372491" cy="4960687"/>
            <a:chOff x="0" y="0"/>
            <a:chExt cx="7163321" cy="661424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163308" cy="6614160"/>
            </a:xfrm>
            <a:custGeom>
              <a:avLst/>
              <a:gdLst/>
              <a:ahLst/>
              <a:cxnLst/>
              <a:rect l="l" t="t" r="r" b="b"/>
              <a:pathLst>
                <a:path w="7163308" h="6614160">
                  <a:moveTo>
                    <a:pt x="0" y="1102360"/>
                  </a:moveTo>
                  <a:cubicBezTo>
                    <a:pt x="0" y="493522"/>
                    <a:pt x="493522" y="0"/>
                    <a:pt x="1102360" y="0"/>
                  </a:cubicBezTo>
                  <a:lnTo>
                    <a:pt x="6060948" y="0"/>
                  </a:lnTo>
                  <a:cubicBezTo>
                    <a:pt x="6669786" y="0"/>
                    <a:pt x="7163308" y="493522"/>
                    <a:pt x="7163308" y="1102360"/>
                  </a:cubicBezTo>
                  <a:lnTo>
                    <a:pt x="7163308" y="5511800"/>
                  </a:lnTo>
                  <a:cubicBezTo>
                    <a:pt x="7163308" y="6120638"/>
                    <a:pt x="6669786" y="6614160"/>
                    <a:pt x="6060948" y="6614160"/>
                  </a:cubicBezTo>
                  <a:lnTo>
                    <a:pt x="1102360" y="6614160"/>
                  </a:lnTo>
                  <a:cubicBezTo>
                    <a:pt x="493522" y="6614287"/>
                    <a:pt x="0" y="6120638"/>
                    <a:pt x="0" y="5511800"/>
                  </a:cubicBezTo>
                  <a:close/>
                </a:path>
              </a:pathLst>
            </a:custGeom>
            <a:solidFill>
              <a:srgbClr val="12273B"/>
            </a:solidFill>
            <a:ln w="19065" cap="sq">
              <a:solidFill>
                <a:srgbClr val="304F67"/>
              </a:solidFill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12124887" y="3765318"/>
            <a:ext cx="5372491" cy="4960687"/>
            <a:chOff x="0" y="0"/>
            <a:chExt cx="7163321" cy="661424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163308" cy="6614160"/>
            </a:xfrm>
            <a:custGeom>
              <a:avLst/>
              <a:gdLst/>
              <a:ahLst/>
              <a:cxnLst/>
              <a:rect l="l" t="t" r="r" b="b"/>
              <a:pathLst>
                <a:path w="7163308" h="6614160">
                  <a:moveTo>
                    <a:pt x="0" y="1102360"/>
                  </a:moveTo>
                  <a:cubicBezTo>
                    <a:pt x="0" y="493522"/>
                    <a:pt x="493522" y="0"/>
                    <a:pt x="1102360" y="0"/>
                  </a:cubicBezTo>
                  <a:lnTo>
                    <a:pt x="6060948" y="0"/>
                  </a:lnTo>
                  <a:cubicBezTo>
                    <a:pt x="6669786" y="0"/>
                    <a:pt x="7163308" y="493522"/>
                    <a:pt x="7163308" y="1102360"/>
                  </a:cubicBezTo>
                  <a:lnTo>
                    <a:pt x="7163308" y="5511800"/>
                  </a:lnTo>
                  <a:cubicBezTo>
                    <a:pt x="7163308" y="6120638"/>
                    <a:pt x="6669786" y="6614160"/>
                    <a:pt x="6060948" y="6614160"/>
                  </a:cubicBezTo>
                  <a:lnTo>
                    <a:pt x="1102360" y="6614160"/>
                  </a:lnTo>
                  <a:cubicBezTo>
                    <a:pt x="493522" y="6614287"/>
                    <a:pt x="0" y="6120638"/>
                    <a:pt x="0" y="5511800"/>
                  </a:cubicBezTo>
                  <a:close/>
                </a:path>
              </a:pathLst>
            </a:custGeom>
            <a:solidFill>
              <a:srgbClr val="12273B"/>
            </a:solidFill>
            <a:ln w="19065" cap="sq">
              <a:solidFill>
                <a:srgbClr val="304F67"/>
              </a:solidFill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617706" y="9471441"/>
            <a:ext cx="17062313" cy="20593"/>
            <a:chOff x="0" y="0"/>
            <a:chExt cx="22749751" cy="2745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2749763" cy="27432"/>
            </a:xfrm>
            <a:custGeom>
              <a:avLst/>
              <a:gdLst/>
              <a:ahLst/>
              <a:cxnLst/>
              <a:rect l="l" t="t" r="r" b="b"/>
              <a:pathLst>
                <a:path w="22749763" h="27432">
                  <a:moveTo>
                    <a:pt x="0" y="0"/>
                  </a:moveTo>
                  <a:lnTo>
                    <a:pt x="22749763" y="0"/>
                  </a:lnTo>
                  <a:lnTo>
                    <a:pt x="22749763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304F67"/>
            </a:solidFill>
          </p:spPr>
        </p:sp>
      </p:grpSp>
      <p:sp>
        <p:nvSpPr>
          <p:cNvPr id="17" name="Freeform 17"/>
          <p:cNvSpPr/>
          <p:nvPr/>
        </p:nvSpPr>
        <p:spPr>
          <a:xfrm>
            <a:off x="14759907" y="2411188"/>
            <a:ext cx="2499393" cy="833131"/>
          </a:xfrm>
          <a:custGeom>
            <a:avLst/>
            <a:gdLst/>
            <a:ahLst/>
            <a:cxnLst/>
            <a:rect l="l" t="t" r="r" b="b"/>
            <a:pathLst>
              <a:path w="2499393" h="833131">
                <a:moveTo>
                  <a:pt x="0" y="0"/>
                </a:moveTo>
                <a:lnTo>
                  <a:pt x="2499393" y="0"/>
                </a:lnTo>
                <a:lnTo>
                  <a:pt x="2499393" y="833131"/>
                </a:lnTo>
                <a:lnTo>
                  <a:pt x="0" y="8331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299391" y="4058126"/>
            <a:ext cx="4484208" cy="39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WHAT EXISTS TODAY?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99391" y="4712808"/>
            <a:ext cx="4484208" cy="1121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dirty="0">
                <a:solidFill>
                  <a:srgbClr val="B1C0CD"/>
                </a:solidFill>
                <a:latin typeface="Aptos"/>
                <a:ea typeface="Aptos"/>
                <a:cs typeface="Aptos"/>
                <a:sym typeface="Aptos"/>
              </a:rPr>
              <a:t>ONLINE REGISTRATION IS DONE AND</a:t>
            </a:r>
          </a:p>
          <a:p>
            <a:pPr algn="l">
              <a:lnSpc>
                <a:spcPts val="2161"/>
              </a:lnSpc>
            </a:pPr>
            <a:r>
              <a:rPr lang="en-US" sz="1801" dirty="0">
                <a:solidFill>
                  <a:srgbClr val="B1C0CD"/>
                </a:solidFill>
                <a:latin typeface="Aptos"/>
                <a:ea typeface="Aptos"/>
                <a:cs typeface="Aptos"/>
                <a:sym typeface="Aptos"/>
              </a:rPr>
              <a:t>HOSPITAL HAS MANY LIMITATIONS </a:t>
            </a:r>
          </a:p>
          <a:p>
            <a:pPr algn="l">
              <a:lnSpc>
                <a:spcPts val="2161"/>
              </a:lnSpc>
            </a:pPr>
            <a:endParaRPr lang="en-US" sz="1801" dirty="0">
              <a:solidFill>
                <a:srgbClr val="B1C0CD"/>
              </a:solidFill>
              <a:latin typeface="Aptos"/>
              <a:ea typeface="Aptos"/>
              <a:cs typeface="Aptos"/>
              <a:sym typeface="Aptos"/>
            </a:endParaRPr>
          </a:p>
          <a:p>
            <a:pPr algn="l">
              <a:lnSpc>
                <a:spcPts val="2161"/>
              </a:lnSpc>
            </a:pPr>
            <a:r>
              <a:rPr lang="en-US" sz="1801" dirty="0">
                <a:solidFill>
                  <a:srgbClr val="B1C0CD"/>
                </a:solidFill>
                <a:latin typeface="Aptos"/>
                <a:ea typeface="Aptos"/>
                <a:cs typeface="Aptos"/>
                <a:sym typeface="Aptos"/>
              </a:rPr>
              <a:t>WE OVERCOME BY ADDING SMART SYSTEMS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954803" y="4058126"/>
            <a:ext cx="4484208" cy="39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 dirty="0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WHAT WE DO DIFFERENTLY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954803" y="4712808"/>
            <a:ext cx="4484208" cy="557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dirty="0">
                <a:solidFill>
                  <a:srgbClr val="B1C0CD"/>
                </a:solidFill>
                <a:latin typeface="Aptos"/>
                <a:ea typeface="Aptos"/>
                <a:cs typeface="Aptos"/>
                <a:sym typeface="Aptos"/>
              </a:rPr>
              <a:t>MASS USABLE AND HEALTH-CENTRIC TO GENERAL PEOPLE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610214" y="4058126"/>
            <a:ext cx="4484208" cy="39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WHY IT MATTERS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610214" y="4712808"/>
            <a:ext cx="4484208" cy="170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33"/>
              </a:lnSpc>
            </a:pPr>
            <a:r>
              <a:rPr lang="en-US" dirty="0">
                <a:solidFill>
                  <a:srgbClr val="A7B4C7"/>
                </a:solidFill>
                <a:latin typeface="IBM Plex Sans"/>
                <a:ea typeface="IBM Plex Sans"/>
                <a:cs typeface="IBM Plex Sans"/>
                <a:sym typeface="IBM Plex Sans"/>
              </a:rPr>
              <a:t>A visit ID binds fifteen seconds of sensing to a persistent clinical record. SO PRESENTING</a:t>
            </a:r>
          </a:p>
          <a:p>
            <a:pPr>
              <a:lnSpc>
                <a:spcPts val="2733"/>
              </a:lnSpc>
            </a:pPr>
            <a:r>
              <a:rPr lang="en-US" b="1" dirty="0">
                <a:solidFill>
                  <a:srgbClr val="F8FAFC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Autonomous kiosk data flow</a:t>
            </a:r>
          </a:p>
          <a:p>
            <a:pPr>
              <a:lnSpc>
                <a:spcPts val="2733"/>
              </a:lnSpc>
            </a:pPr>
            <a:endParaRPr lang="en-US" dirty="0">
              <a:solidFill>
                <a:srgbClr val="A7B4C7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777773" y="9672352"/>
            <a:ext cx="13543845" cy="261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B1C0CD"/>
                </a:solidFill>
                <a:latin typeface="Aptos"/>
                <a:ea typeface="Aptos"/>
                <a:cs typeface="Aptos"/>
                <a:sym typeface="Aptos"/>
              </a:rPr>
              <a:t>VMEDITHON 3.0  •  HACKATHON &amp; BUILDATHON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6838047" y="9626975"/>
            <a:ext cx="503453" cy="320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1">
                <a:solidFill>
                  <a:srgbClr val="2AC976"/>
                </a:solidFill>
                <a:latin typeface="Aptos Bold"/>
                <a:ea typeface="Aptos Bold"/>
                <a:cs typeface="Aptos Bold"/>
                <a:sym typeface="Aptos Bold"/>
              </a:rPr>
              <a:t>5/7</a:t>
            </a:r>
          </a:p>
        </p:txBody>
      </p:sp>
      <p:sp>
        <p:nvSpPr>
          <p:cNvPr id="26" name="Freeform 26"/>
          <p:cNvSpPr/>
          <p:nvPr/>
        </p:nvSpPr>
        <p:spPr>
          <a:xfrm>
            <a:off x="505649" y="19050"/>
            <a:ext cx="2276856" cy="1955414"/>
          </a:xfrm>
          <a:custGeom>
            <a:avLst/>
            <a:gdLst/>
            <a:ahLst/>
            <a:cxnLst/>
            <a:rect l="l" t="t" r="r" b="b"/>
            <a:pathLst>
              <a:path w="2276856" h="1955414">
                <a:moveTo>
                  <a:pt x="0" y="0"/>
                </a:moveTo>
                <a:lnTo>
                  <a:pt x="2276856" y="0"/>
                </a:lnTo>
                <a:lnTo>
                  <a:pt x="2276856" y="1955414"/>
                </a:lnTo>
                <a:lnTo>
                  <a:pt x="0" y="19554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157646" b="-100000"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3891143" y="9525"/>
            <a:ext cx="2059249" cy="2186645"/>
          </a:xfrm>
          <a:custGeom>
            <a:avLst/>
            <a:gdLst/>
            <a:ahLst/>
            <a:cxnLst/>
            <a:rect l="l" t="t" r="r" b="b"/>
            <a:pathLst>
              <a:path w="2059249" h="2186645">
                <a:moveTo>
                  <a:pt x="0" y="0"/>
                </a:moveTo>
                <a:lnTo>
                  <a:pt x="2059249" y="0"/>
                </a:lnTo>
                <a:lnTo>
                  <a:pt x="2059249" y="2186645"/>
                </a:lnTo>
                <a:lnTo>
                  <a:pt x="0" y="21866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8791" b="-87588"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5603719" y="336157"/>
            <a:ext cx="2016514" cy="1935237"/>
          </a:xfrm>
          <a:custGeom>
            <a:avLst/>
            <a:gdLst/>
            <a:ahLst/>
            <a:cxnLst/>
            <a:rect l="l" t="t" r="r" b="b"/>
            <a:pathLst>
              <a:path w="2016514" h="1935237">
                <a:moveTo>
                  <a:pt x="0" y="0"/>
                </a:moveTo>
                <a:lnTo>
                  <a:pt x="2016514" y="0"/>
                </a:lnTo>
                <a:lnTo>
                  <a:pt x="2016514" y="1935238"/>
                </a:lnTo>
                <a:lnTo>
                  <a:pt x="0" y="19352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09871" r="-202118"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0837545" y="71434"/>
            <a:ext cx="3650548" cy="2464684"/>
          </a:xfrm>
          <a:custGeom>
            <a:avLst/>
            <a:gdLst/>
            <a:ahLst/>
            <a:cxnLst/>
            <a:rect l="l" t="t" r="r" b="b"/>
            <a:pathLst>
              <a:path w="3650548" h="2464684">
                <a:moveTo>
                  <a:pt x="0" y="0"/>
                </a:moveTo>
                <a:lnTo>
                  <a:pt x="3650547" y="0"/>
                </a:lnTo>
                <a:lnTo>
                  <a:pt x="3650547" y="2464684"/>
                </a:lnTo>
                <a:lnTo>
                  <a:pt x="0" y="24646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8505" t="-153689" r="-87488" b="-18834"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6192765" y="336157"/>
            <a:ext cx="1794017" cy="1957095"/>
          </a:xfrm>
          <a:custGeom>
            <a:avLst/>
            <a:gdLst/>
            <a:ahLst/>
            <a:cxnLst/>
            <a:rect l="l" t="t" r="r" b="b"/>
            <a:pathLst>
              <a:path w="1794017" h="1957095">
                <a:moveTo>
                  <a:pt x="0" y="0"/>
                </a:moveTo>
                <a:lnTo>
                  <a:pt x="1794018" y="0"/>
                </a:lnTo>
                <a:lnTo>
                  <a:pt x="1794018" y="1957095"/>
                </a:lnTo>
                <a:lnTo>
                  <a:pt x="0" y="19570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55724" t="-115126" r="-9421" b="-8019"/>
            </a:stretch>
          </a:blipFill>
        </p:spPr>
      </p:sp>
      <p:grpSp>
        <p:nvGrpSpPr>
          <p:cNvPr id="31" name="Group 31"/>
          <p:cNvGrpSpPr/>
          <p:nvPr/>
        </p:nvGrpSpPr>
        <p:grpSpPr>
          <a:xfrm>
            <a:off x="14650017" y="631433"/>
            <a:ext cx="1312757" cy="1312757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1"/>
                </a:lnSpc>
              </a:pPr>
              <a:endParaRPr/>
            </a:p>
          </p:txBody>
        </p:sp>
      </p:grpSp>
      <p:sp>
        <p:nvSpPr>
          <p:cNvPr id="34" name="Freeform 34"/>
          <p:cNvSpPr/>
          <p:nvPr/>
        </p:nvSpPr>
        <p:spPr>
          <a:xfrm>
            <a:off x="15016504" y="865339"/>
            <a:ext cx="681540" cy="844946"/>
          </a:xfrm>
          <a:custGeom>
            <a:avLst/>
            <a:gdLst/>
            <a:ahLst/>
            <a:cxnLst/>
            <a:rect l="l" t="t" r="r" b="b"/>
            <a:pathLst>
              <a:path w="681540" h="844946">
                <a:moveTo>
                  <a:pt x="0" y="0"/>
                </a:moveTo>
                <a:lnTo>
                  <a:pt x="681540" y="0"/>
                </a:lnTo>
                <a:lnTo>
                  <a:pt x="681540" y="844946"/>
                </a:lnTo>
                <a:lnTo>
                  <a:pt x="0" y="8449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519879"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2685759" y="420802"/>
            <a:ext cx="1264569" cy="1422171"/>
          </a:xfrm>
          <a:custGeom>
            <a:avLst/>
            <a:gdLst/>
            <a:ahLst/>
            <a:cxnLst/>
            <a:rect l="l" t="t" r="r" b="b"/>
            <a:pathLst>
              <a:path w="1264569" h="1422171">
                <a:moveTo>
                  <a:pt x="0" y="0"/>
                </a:moveTo>
                <a:lnTo>
                  <a:pt x="1264569" y="0"/>
                </a:lnTo>
                <a:lnTo>
                  <a:pt x="1264569" y="1422171"/>
                </a:lnTo>
                <a:lnTo>
                  <a:pt x="0" y="14221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36" name="TextBox 36"/>
          <p:cNvSpPr txBox="1"/>
          <p:nvPr/>
        </p:nvSpPr>
        <p:spPr>
          <a:xfrm>
            <a:off x="7351107" y="672521"/>
            <a:ext cx="3600082" cy="1192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3"/>
              </a:lnSpc>
            </a:pPr>
            <a:r>
              <a:rPr lang="en-US" sz="227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School of Computer Science &amp; Engineering</a:t>
            </a:r>
          </a:p>
          <a:p>
            <a:pPr algn="ctr">
              <a:lnSpc>
                <a:spcPts val="3183"/>
              </a:lnSpc>
            </a:pPr>
            <a:r>
              <a:rPr lang="en-US" sz="227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(SCOPE)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6" b="-26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302297" cy="82363"/>
            <a:chOff x="0" y="0"/>
            <a:chExt cx="24403063" cy="10981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403050" cy="109855"/>
            </a:xfrm>
            <a:custGeom>
              <a:avLst/>
              <a:gdLst/>
              <a:ahLst/>
              <a:cxnLst/>
              <a:rect l="l" t="t" r="r" b="b"/>
              <a:pathLst>
                <a:path w="24403050" h="109855">
                  <a:moveTo>
                    <a:pt x="0" y="0"/>
                  </a:moveTo>
                  <a:lnTo>
                    <a:pt x="24403050" y="0"/>
                  </a:lnTo>
                  <a:lnTo>
                    <a:pt x="24403050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2AC976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0" y="10185225"/>
            <a:ext cx="18302297" cy="109814"/>
            <a:chOff x="0" y="0"/>
            <a:chExt cx="24403063" cy="14641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403050" cy="146431"/>
            </a:xfrm>
            <a:custGeom>
              <a:avLst/>
              <a:gdLst/>
              <a:ahLst/>
              <a:cxnLst/>
              <a:rect l="l" t="t" r="r" b="b"/>
              <a:pathLst>
                <a:path w="24403050" h="146431">
                  <a:moveTo>
                    <a:pt x="0" y="0"/>
                  </a:moveTo>
                  <a:lnTo>
                    <a:pt x="24403050" y="0"/>
                  </a:lnTo>
                  <a:lnTo>
                    <a:pt x="24403050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278DD6"/>
            </a:solidFill>
          </p:spPr>
        </p:sp>
      </p:grpSp>
      <p:sp>
        <p:nvSpPr>
          <p:cNvPr id="7" name="TextBox 7"/>
          <p:cNvSpPr txBox="1"/>
          <p:nvPr/>
        </p:nvSpPr>
        <p:spPr>
          <a:xfrm>
            <a:off x="846411" y="2224068"/>
            <a:ext cx="16151924" cy="859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1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05. IMPLEMENTATION &amp; FEASIBILITY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87587" y="3065602"/>
            <a:ext cx="15602855" cy="526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B1C0CD"/>
                </a:solidFill>
                <a:latin typeface="Aptos"/>
                <a:ea typeface="Aptos"/>
                <a:cs typeface="Aptos"/>
                <a:sym typeface="Aptos"/>
              </a:rPr>
              <a:t>Demonstrate that your idea can move from concept to a practical solution.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814073" y="3765318"/>
            <a:ext cx="8186461" cy="4960687"/>
            <a:chOff x="0" y="0"/>
            <a:chExt cx="10915282" cy="661424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915269" cy="6614160"/>
            </a:xfrm>
            <a:custGeom>
              <a:avLst/>
              <a:gdLst/>
              <a:ahLst/>
              <a:cxnLst/>
              <a:rect l="l" t="t" r="r" b="b"/>
              <a:pathLst>
                <a:path w="10915269" h="6614160">
                  <a:moveTo>
                    <a:pt x="0" y="1102360"/>
                  </a:moveTo>
                  <a:cubicBezTo>
                    <a:pt x="0" y="493522"/>
                    <a:pt x="493522" y="0"/>
                    <a:pt x="1102360" y="0"/>
                  </a:cubicBezTo>
                  <a:lnTo>
                    <a:pt x="9812909" y="0"/>
                  </a:lnTo>
                  <a:cubicBezTo>
                    <a:pt x="10421747" y="0"/>
                    <a:pt x="10915269" y="493522"/>
                    <a:pt x="10915269" y="1102360"/>
                  </a:cubicBezTo>
                  <a:lnTo>
                    <a:pt x="10915269" y="5511800"/>
                  </a:lnTo>
                  <a:cubicBezTo>
                    <a:pt x="10915269" y="6120638"/>
                    <a:pt x="10421747" y="6614160"/>
                    <a:pt x="9812909" y="6614160"/>
                  </a:cubicBezTo>
                  <a:lnTo>
                    <a:pt x="1102360" y="6614160"/>
                  </a:lnTo>
                  <a:cubicBezTo>
                    <a:pt x="493522" y="6614287"/>
                    <a:pt x="0" y="6120638"/>
                    <a:pt x="0" y="5511800"/>
                  </a:cubicBezTo>
                  <a:close/>
                </a:path>
              </a:pathLst>
            </a:custGeom>
            <a:solidFill>
              <a:srgbClr val="12273B"/>
            </a:solidFill>
            <a:ln w="19065" cap="sq">
              <a:solidFill>
                <a:srgbClr val="304F67"/>
              </a:solidFill>
              <a:prstDash val="solid"/>
              <a:miter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9324642" y="3765318"/>
            <a:ext cx="8186461" cy="2283971"/>
            <a:chOff x="0" y="0"/>
            <a:chExt cx="10915282" cy="304529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915397" cy="3045333"/>
            </a:xfrm>
            <a:custGeom>
              <a:avLst/>
              <a:gdLst/>
              <a:ahLst/>
              <a:cxnLst/>
              <a:rect l="l" t="t" r="r" b="b"/>
              <a:pathLst>
                <a:path w="10915397" h="3045333">
                  <a:moveTo>
                    <a:pt x="0" y="507619"/>
                  </a:moveTo>
                  <a:cubicBezTo>
                    <a:pt x="0" y="227203"/>
                    <a:pt x="227203" y="0"/>
                    <a:pt x="507619" y="0"/>
                  </a:cubicBezTo>
                  <a:lnTo>
                    <a:pt x="10407777" y="0"/>
                  </a:lnTo>
                  <a:cubicBezTo>
                    <a:pt x="10688066" y="0"/>
                    <a:pt x="10915397" y="227203"/>
                    <a:pt x="10915397" y="507619"/>
                  </a:cubicBezTo>
                  <a:lnTo>
                    <a:pt x="10915397" y="2537714"/>
                  </a:lnTo>
                  <a:cubicBezTo>
                    <a:pt x="10915397" y="2818003"/>
                    <a:pt x="10688193" y="3045333"/>
                    <a:pt x="10407777" y="3045333"/>
                  </a:cubicBezTo>
                  <a:lnTo>
                    <a:pt x="507619" y="3045333"/>
                  </a:lnTo>
                  <a:cubicBezTo>
                    <a:pt x="227203" y="3045333"/>
                    <a:pt x="0" y="2818003"/>
                    <a:pt x="0" y="2537714"/>
                  </a:cubicBezTo>
                  <a:close/>
                </a:path>
              </a:pathLst>
            </a:custGeom>
            <a:solidFill>
              <a:srgbClr val="12273B"/>
            </a:solidFill>
            <a:ln w="19065" cap="sq">
              <a:solidFill>
                <a:srgbClr val="304F67"/>
              </a:solidFill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9294162" y="6473470"/>
            <a:ext cx="8186547" cy="2283999"/>
            <a:chOff x="-40640" y="41928"/>
            <a:chExt cx="10915397" cy="3045332"/>
          </a:xfrm>
        </p:grpSpPr>
        <p:sp>
          <p:nvSpPr>
            <p:cNvPr id="14" name="Freeform 14"/>
            <p:cNvSpPr/>
            <p:nvPr/>
          </p:nvSpPr>
          <p:spPr>
            <a:xfrm>
              <a:off x="-40640" y="41928"/>
              <a:ext cx="10915397" cy="3045332"/>
            </a:xfrm>
            <a:custGeom>
              <a:avLst/>
              <a:gdLst/>
              <a:ahLst/>
              <a:cxnLst/>
              <a:rect l="l" t="t" r="r" b="b"/>
              <a:pathLst>
                <a:path w="10915397" h="3045333">
                  <a:moveTo>
                    <a:pt x="0" y="507619"/>
                  </a:moveTo>
                  <a:cubicBezTo>
                    <a:pt x="0" y="227203"/>
                    <a:pt x="227203" y="0"/>
                    <a:pt x="507619" y="0"/>
                  </a:cubicBezTo>
                  <a:lnTo>
                    <a:pt x="10407777" y="0"/>
                  </a:lnTo>
                  <a:cubicBezTo>
                    <a:pt x="10688066" y="0"/>
                    <a:pt x="10915397" y="227203"/>
                    <a:pt x="10915397" y="507619"/>
                  </a:cubicBezTo>
                  <a:lnTo>
                    <a:pt x="10915397" y="2537714"/>
                  </a:lnTo>
                  <a:cubicBezTo>
                    <a:pt x="10915397" y="2818003"/>
                    <a:pt x="10688193" y="3045333"/>
                    <a:pt x="10407777" y="3045333"/>
                  </a:cubicBezTo>
                  <a:lnTo>
                    <a:pt x="507619" y="3045333"/>
                  </a:lnTo>
                  <a:cubicBezTo>
                    <a:pt x="227203" y="3045333"/>
                    <a:pt x="0" y="2818003"/>
                    <a:pt x="0" y="2537714"/>
                  </a:cubicBezTo>
                  <a:close/>
                </a:path>
              </a:pathLst>
            </a:custGeom>
            <a:solidFill>
              <a:srgbClr val="12273B"/>
            </a:solidFill>
            <a:ln w="19065" cap="sq">
              <a:solidFill>
                <a:srgbClr val="304F67"/>
              </a:solidFill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17706" y="9471441"/>
            <a:ext cx="17062313" cy="20593"/>
            <a:chOff x="0" y="0"/>
            <a:chExt cx="22749751" cy="2745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2749763" cy="27432"/>
            </a:xfrm>
            <a:custGeom>
              <a:avLst/>
              <a:gdLst/>
              <a:ahLst/>
              <a:cxnLst/>
              <a:rect l="l" t="t" r="r" b="b"/>
              <a:pathLst>
                <a:path w="22749763" h="27432">
                  <a:moveTo>
                    <a:pt x="0" y="0"/>
                  </a:moveTo>
                  <a:lnTo>
                    <a:pt x="22749763" y="0"/>
                  </a:lnTo>
                  <a:lnTo>
                    <a:pt x="22749763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304F67"/>
            </a:solidFill>
          </p:spPr>
        </p:sp>
      </p:grpSp>
      <p:sp>
        <p:nvSpPr>
          <p:cNvPr id="17" name="Freeform 17"/>
          <p:cNvSpPr/>
          <p:nvPr/>
        </p:nvSpPr>
        <p:spPr>
          <a:xfrm>
            <a:off x="14759907" y="2411188"/>
            <a:ext cx="2499393" cy="833131"/>
          </a:xfrm>
          <a:custGeom>
            <a:avLst/>
            <a:gdLst/>
            <a:ahLst/>
            <a:cxnLst/>
            <a:rect l="l" t="t" r="r" b="b"/>
            <a:pathLst>
              <a:path w="2499393" h="833131">
                <a:moveTo>
                  <a:pt x="0" y="0"/>
                </a:moveTo>
                <a:lnTo>
                  <a:pt x="2499393" y="0"/>
                </a:lnTo>
                <a:lnTo>
                  <a:pt x="2499393" y="833131"/>
                </a:lnTo>
                <a:lnTo>
                  <a:pt x="0" y="8331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299391" y="4058126"/>
            <a:ext cx="7298188" cy="39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CURRENT PROGRESS / PROTOTYPE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99391" y="4712808"/>
            <a:ext cx="7298188" cy="2954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/>
            <a:r>
              <a:rPr lang="en-IN" sz="2400" dirty="0">
                <a:solidFill>
                  <a:schemeClr val="bg1">
                    <a:lumMod val="75000"/>
                  </a:schemeClr>
                </a:solidFill>
              </a:rPr>
              <a:t>Developed a functional </a:t>
            </a:r>
            <a:r>
              <a:rPr lang="en-IN" sz="2400" b="1" dirty="0">
                <a:solidFill>
                  <a:schemeClr val="bg1">
                    <a:lumMod val="75000"/>
                  </a:schemeClr>
                </a:solidFill>
              </a:rPr>
              <a:t>AI Diagnostic Assistant</a:t>
            </a:r>
            <a:r>
              <a:rPr lang="en-IN" sz="2400" dirty="0">
                <a:solidFill>
                  <a:schemeClr val="bg1">
                    <a:lumMod val="75000"/>
                  </a:schemeClr>
                </a:solidFill>
              </a:rPr>
              <a:t> capable of </a:t>
            </a:r>
            <a:r>
              <a:rPr lang="en-IN" sz="2400" dirty="0" err="1">
                <a:solidFill>
                  <a:schemeClr val="bg1">
                    <a:lumMod val="75000"/>
                  </a:schemeClr>
                </a:solidFill>
              </a:rPr>
              <a:t>analyzing</a:t>
            </a:r>
            <a:r>
              <a:rPr lang="en-IN" sz="2400" dirty="0">
                <a:solidFill>
                  <a:schemeClr val="bg1">
                    <a:lumMod val="75000"/>
                  </a:schemeClr>
                </a:solidFill>
              </a:rPr>
              <a:t> CT Scans, Ultrasounds, and X-Rays for preliminary anomaly detection.</a:t>
            </a:r>
          </a:p>
          <a:p>
            <a:pPr lvl="0"/>
            <a:r>
              <a:rPr lang="en-IN" sz="2400" dirty="0">
                <a:solidFill>
                  <a:schemeClr val="bg1">
                    <a:lumMod val="75000"/>
                  </a:schemeClr>
                </a:solidFill>
              </a:rPr>
              <a:t>Built the core </a:t>
            </a:r>
            <a:r>
              <a:rPr lang="en-IN" sz="2400" b="1" dirty="0">
                <a:solidFill>
                  <a:schemeClr val="bg1">
                    <a:lumMod val="75000"/>
                  </a:schemeClr>
                </a:solidFill>
              </a:rPr>
              <a:t>MEDATHON HIMS Dashboard</a:t>
            </a:r>
            <a:r>
              <a:rPr lang="en-IN" sz="2400" dirty="0">
                <a:solidFill>
                  <a:schemeClr val="bg1">
                    <a:lumMod val="75000"/>
                  </a:schemeClr>
                </a:solidFill>
              </a:rPr>
              <a:t> (Next.js) with an active backend (</a:t>
            </a:r>
            <a:r>
              <a:rPr lang="en-IN" sz="2400" dirty="0" err="1">
                <a:solidFill>
                  <a:schemeClr val="bg1">
                    <a:lumMod val="75000"/>
                  </a:schemeClr>
                </a:solidFill>
              </a:rPr>
              <a:t>FastAPI</a:t>
            </a:r>
            <a:r>
              <a:rPr lang="en-IN" sz="2400" dirty="0">
                <a:solidFill>
                  <a:schemeClr val="bg1">
                    <a:lumMod val="75000"/>
                  </a:schemeClr>
                </a:solidFill>
              </a:rPr>
              <a:t>/</a:t>
            </a:r>
            <a:r>
              <a:rPr lang="en-IN" sz="2400" dirty="0" err="1">
                <a:solidFill>
                  <a:schemeClr val="bg1">
                    <a:lumMod val="75000"/>
                  </a:schemeClr>
                </a:solidFill>
              </a:rPr>
              <a:t>Supabase</a:t>
            </a:r>
            <a:r>
              <a:rPr lang="en-IN" sz="2400" dirty="0">
                <a:solidFill>
                  <a:schemeClr val="bg1">
                    <a:lumMod val="75000"/>
                  </a:schemeClr>
                </a:solidFill>
              </a:rPr>
              <a:t>) to support real-time data streaming.</a:t>
            </a:r>
          </a:p>
          <a:p>
            <a:pPr lvl="0"/>
            <a:r>
              <a:rPr lang="en-IN" sz="2400" dirty="0">
                <a:solidFill>
                  <a:schemeClr val="bg1">
                    <a:lumMod val="75000"/>
                  </a:schemeClr>
                </a:solidFill>
              </a:rPr>
              <a:t>Validated the foundational architecture for integrating physical IoT sensors into the digital workspace.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809959" y="4058126"/>
            <a:ext cx="7298188" cy="39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IMPLEMENTATION PLAN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432767" y="6597881"/>
            <a:ext cx="8138101" cy="23031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 dirty="0">
                <a:solidFill>
                  <a:schemeClr val="bg1">
                    <a:lumMod val="75000"/>
                  </a:schemeClr>
                </a:solidFill>
                <a:latin typeface="Aptos Bold"/>
                <a:ea typeface="Aptos Bold"/>
                <a:cs typeface="Aptos Bold"/>
                <a:sym typeface="Aptos Bold"/>
              </a:rPr>
              <a:t>RESOURCES &amp; FEASIBILITY</a:t>
            </a:r>
          </a:p>
          <a:p>
            <a:pPr lvl="0"/>
            <a:r>
              <a:rPr lang="en-IN" b="1" dirty="0">
                <a:solidFill>
                  <a:schemeClr val="bg1">
                    <a:lumMod val="75000"/>
                  </a:schemeClr>
                </a:solidFill>
              </a:rPr>
              <a:t>Ultra-Low-Cost Hardware:</a:t>
            </a:r>
            <a:r>
              <a:rPr lang="en-IN" dirty="0">
                <a:solidFill>
                  <a:schemeClr val="bg1">
                    <a:lumMod val="75000"/>
                  </a:schemeClr>
                </a:solidFill>
              </a:rPr>
              <a:t> The complete physical IoT Smart Kiosk (ESP32, MAX30102, MLX90614, and custom 3D casing) costs </a:t>
            </a:r>
            <a:r>
              <a:rPr lang="en-IN" b="1" dirty="0">
                <a:solidFill>
                  <a:schemeClr val="bg1">
                    <a:lumMod val="75000"/>
                  </a:schemeClr>
                </a:solidFill>
              </a:rPr>
              <a:t>under ₹5,000 per unit</a:t>
            </a:r>
            <a:r>
              <a:rPr lang="en-IN" dirty="0">
                <a:solidFill>
                  <a:schemeClr val="bg1">
                    <a:lumMod val="75000"/>
                  </a:schemeClr>
                </a:solidFill>
              </a:rPr>
              <a:t>, making it highly affordable for rural and primary healthcare </a:t>
            </a:r>
            <a:r>
              <a:rPr lang="en-IN" dirty="0" err="1">
                <a:solidFill>
                  <a:schemeClr val="bg1">
                    <a:lumMod val="75000"/>
                  </a:schemeClr>
                </a:solidFill>
              </a:rPr>
              <a:t>centers</a:t>
            </a:r>
            <a:r>
              <a:rPr lang="en-IN" dirty="0">
                <a:solidFill>
                  <a:schemeClr val="bg1">
                    <a:lumMod val="75000"/>
                  </a:schemeClr>
                </a:solidFill>
              </a:rPr>
              <a:t>.</a:t>
            </a:r>
          </a:p>
          <a:p>
            <a:pPr lvl="0"/>
            <a:r>
              <a:rPr lang="en-IN" b="1" dirty="0">
                <a:solidFill>
                  <a:schemeClr val="bg1">
                    <a:lumMod val="75000"/>
                  </a:schemeClr>
                </a:solidFill>
              </a:rPr>
              <a:t>Zero-Cost Software Architecture:</a:t>
            </a:r>
            <a:r>
              <a:rPr lang="en-IN" dirty="0">
                <a:solidFill>
                  <a:schemeClr val="bg1">
                    <a:lumMod val="75000"/>
                  </a:schemeClr>
                </a:solidFill>
              </a:rPr>
              <a:t> Leveraging student developer packs and free-tier cloud infrastructure (</a:t>
            </a:r>
            <a:r>
              <a:rPr lang="en-IN" dirty="0" err="1">
                <a:solidFill>
                  <a:schemeClr val="bg1">
                    <a:lumMod val="75000"/>
                  </a:schemeClr>
                </a:solidFill>
              </a:rPr>
              <a:t>Vercel</a:t>
            </a:r>
            <a:r>
              <a:rPr lang="en-IN" dirty="0">
                <a:solidFill>
                  <a:schemeClr val="bg1">
                    <a:lumMod val="75000"/>
                  </a:schemeClr>
                </a:solidFill>
              </a:rPr>
              <a:t> for Next.js, </a:t>
            </a:r>
            <a:r>
              <a:rPr lang="en-IN" dirty="0" err="1">
                <a:solidFill>
                  <a:schemeClr val="bg1">
                    <a:lumMod val="75000"/>
                  </a:schemeClr>
                </a:solidFill>
              </a:rPr>
              <a:t>Supabase</a:t>
            </a:r>
            <a:r>
              <a:rPr lang="en-IN" dirty="0">
                <a:solidFill>
                  <a:schemeClr val="bg1">
                    <a:lumMod val="75000"/>
                  </a:schemeClr>
                </a:solidFill>
              </a:rPr>
              <a:t> for PostgreSQL, and Render for </a:t>
            </a:r>
            <a:r>
              <a:rPr lang="en-IN" dirty="0" err="1">
                <a:solidFill>
                  <a:schemeClr val="bg1">
                    <a:lumMod val="75000"/>
                  </a:schemeClr>
                </a:solidFill>
              </a:rPr>
              <a:t>FastAPI</a:t>
            </a:r>
            <a:r>
              <a:rPr lang="en-IN" dirty="0">
                <a:solidFill>
                  <a:schemeClr val="bg1">
                    <a:lumMod val="75000"/>
                  </a:schemeClr>
                </a:solidFill>
              </a:rPr>
              <a:t>). AI models (</a:t>
            </a:r>
            <a:r>
              <a:rPr lang="en-IN" dirty="0" err="1">
                <a:solidFill>
                  <a:schemeClr val="bg1">
                    <a:lumMod val="75000"/>
                  </a:schemeClr>
                </a:solidFill>
              </a:rPr>
              <a:t>PyTorch</a:t>
            </a:r>
            <a:r>
              <a:rPr lang="en-IN" dirty="0">
                <a:solidFill>
                  <a:schemeClr val="bg1">
                    <a:lumMod val="75000"/>
                  </a:schemeClr>
                </a:solidFill>
              </a:rPr>
              <a:t>/</a:t>
            </a:r>
            <a:r>
              <a:rPr lang="en-IN" dirty="0" err="1">
                <a:solidFill>
                  <a:schemeClr val="bg1">
                    <a:lumMod val="75000"/>
                  </a:schemeClr>
                </a:solidFill>
              </a:rPr>
              <a:t>Ollama</a:t>
            </a:r>
            <a:r>
              <a:rPr lang="en-IN" dirty="0">
                <a:solidFill>
                  <a:schemeClr val="bg1">
                    <a:lumMod val="75000"/>
                  </a:schemeClr>
                </a:solidFill>
              </a:rPr>
              <a:t>) run locally, eliminating expensive API costs.</a:t>
            </a:r>
          </a:p>
          <a:p>
            <a:pPr algn="l">
              <a:lnSpc>
                <a:spcPts val="2521"/>
              </a:lnSpc>
            </a:pPr>
            <a:endParaRPr lang="en-US" sz="2101" b="1" dirty="0">
              <a:solidFill>
                <a:schemeClr val="bg1">
                  <a:lumMod val="75000"/>
                </a:schemeClr>
              </a:solidFill>
              <a:latin typeface="Aptos Bold"/>
              <a:ea typeface="Aptos Bold"/>
              <a:cs typeface="Aptos Bold"/>
              <a:sym typeface="Aptos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777773" y="9672352"/>
            <a:ext cx="13543845" cy="261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B1C0CD"/>
                </a:solidFill>
                <a:latin typeface="Aptos"/>
                <a:ea typeface="Aptos"/>
                <a:cs typeface="Aptos"/>
                <a:sym typeface="Aptos"/>
              </a:rPr>
              <a:t>VMEDITHON 3.0  •  HACKATHON &amp; BUILDATHON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6838047" y="9626975"/>
            <a:ext cx="503453" cy="320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1">
                <a:solidFill>
                  <a:srgbClr val="2AC976"/>
                </a:solidFill>
                <a:latin typeface="Aptos Bold"/>
                <a:ea typeface="Aptos Bold"/>
                <a:cs typeface="Aptos Bold"/>
                <a:sym typeface="Aptos Bold"/>
              </a:rPr>
              <a:t>6/7</a:t>
            </a:r>
          </a:p>
        </p:txBody>
      </p:sp>
      <p:sp>
        <p:nvSpPr>
          <p:cNvPr id="26" name="Freeform 26"/>
          <p:cNvSpPr/>
          <p:nvPr/>
        </p:nvSpPr>
        <p:spPr>
          <a:xfrm>
            <a:off x="505649" y="19050"/>
            <a:ext cx="2276856" cy="1955414"/>
          </a:xfrm>
          <a:custGeom>
            <a:avLst/>
            <a:gdLst/>
            <a:ahLst/>
            <a:cxnLst/>
            <a:rect l="l" t="t" r="r" b="b"/>
            <a:pathLst>
              <a:path w="2276856" h="1955414">
                <a:moveTo>
                  <a:pt x="0" y="0"/>
                </a:moveTo>
                <a:lnTo>
                  <a:pt x="2276856" y="0"/>
                </a:lnTo>
                <a:lnTo>
                  <a:pt x="2276856" y="1955414"/>
                </a:lnTo>
                <a:lnTo>
                  <a:pt x="0" y="19554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157646" b="-100000"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3891143" y="9525"/>
            <a:ext cx="2059249" cy="2186645"/>
          </a:xfrm>
          <a:custGeom>
            <a:avLst/>
            <a:gdLst/>
            <a:ahLst/>
            <a:cxnLst/>
            <a:rect l="l" t="t" r="r" b="b"/>
            <a:pathLst>
              <a:path w="2059249" h="2186645">
                <a:moveTo>
                  <a:pt x="0" y="0"/>
                </a:moveTo>
                <a:lnTo>
                  <a:pt x="2059249" y="0"/>
                </a:lnTo>
                <a:lnTo>
                  <a:pt x="2059249" y="2186645"/>
                </a:lnTo>
                <a:lnTo>
                  <a:pt x="0" y="21866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8791" b="-87588"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5603719" y="336157"/>
            <a:ext cx="2016514" cy="1935237"/>
          </a:xfrm>
          <a:custGeom>
            <a:avLst/>
            <a:gdLst/>
            <a:ahLst/>
            <a:cxnLst/>
            <a:rect l="l" t="t" r="r" b="b"/>
            <a:pathLst>
              <a:path w="2016514" h="1935237">
                <a:moveTo>
                  <a:pt x="0" y="0"/>
                </a:moveTo>
                <a:lnTo>
                  <a:pt x="2016514" y="0"/>
                </a:lnTo>
                <a:lnTo>
                  <a:pt x="2016514" y="1935238"/>
                </a:lnTo>
                <a:lnTo>
                  <a:pt x="0" y="19352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09871" r="-202118"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0837545" y="71434"/>
            <a:ext cx="3650548" cy="2464684"/>
          </a:xfrm>
          <a:custGeom>
            <a:avLst/>
            <a:gdLst/>
            <a:ahLst/>
            <a:cxnLst/>
            <a:rect l="l" t="t" r="r" b="b"/>
            <a:pathLst>
              <a:path w="3650548" h="2464684">
                <a:moveTo>
                  <a:pt x="0" y="0"/>
                </a:moveTo>
                <a:lnTo>
                  <a:pt x="3650547" y="0"/>
                </a:lnTo>
                <a:lnTo>
                  <a:pt x="3650547" y="2464684"/>
                </a:lnTo>
                <a:lnTo>
                  <a:pt x="0" y="24646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8505" t="-153689" r="-87488" b="-18834"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6192765" y="336157"/>
            <a:ext cx="1794017" cy="1957095"/>
          </a:xfrm>
          <a:custGeom>
            <a:avLst/>
            <a:gdLst/>
            <a:ahLst/>
            <a:cxnLst/>
            <a:rect l="l" t="t" r="r" b="b"/>
            <a:pathLst>
              <a:path w="1794017" h="1957095">
                <a:moveTo>
                  <a:pt x="0" y="0"/>
                </a:moveTo>
                <a:lnTo>
                  <a:pt x="1794018" y="0"/>
                </a:lnTo>
                <a:lnTo>
                  <a:pt x="1794018" y="1957095"/>
                </a:lnTo>
                <a:lnTo>
                  <a:pt x="0" y="19570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55724" t="-115126" r="-9421" b="-8019"/>
            </a:stretch>
          </a:blipFill>
        </p:spPr>
      </p:sp>
      <p:grpSp>
        <p:nvGrpSpPr>
          <p:cNvPr id="31" name="Group 31"/>
          <p:cNvGrpSpPr/>
          <p:nvPr/>
        </p:nvGrpSpPr>
        <p:grpSpPr>
          <a:xfrm>
            <a:off x="14650017" y="631433"/>
            <a:ext cx="1312757" cy="1312757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1"/>
                </a:lnSpc>
              </a:pPr>
              <a:endParaRPr/>
            </a:p>
          </p:txBody>
        </p:sp>
      </p:grpSp>
      <p:sp>
        <p:nvSpPr>
          <p:cNvPr id="34" name="Freeform 34"/>
          <p:cNvSpPr/>
          <p:nvPr/>
        </p:nvSpPr>
        <p:spPr>
          <a:xfrm>
            <a:off x="15016504" y="865339"/>
            <a:ext cx="681540" cy="844946"/>
          </a:xfrm>
          <a:custGeom>
            <a:avLst/>
            <a:gdLst/>
            <a:ahLst/>
            <a:cxnLst/>
            <a:rect l="l" t="t" r="r" b="b"/>
            <a:pathLst>
              <a:path w="681540" h="844946">
                <a:moveTo>
                  <a:pt x="0" y="0"/>
                </a:moveTo>
                <a:lnTo>
                  <a:pt x="681540" y="0"/>
                </a:lnTo>
                <a:lnTo>
                  <a:pt x="681540" y="844946"/>
                </a:lnTo>
                <a:lnTo>
                  <a:pt x="0" y="8449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519879"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2685759" y="420802"/>
            <a:ext cx="1264569" cy="1422171"/>
          </a:xfrm>
          <a:custGeom>
            <a:avLst/>
            <a:gdLst/>
            <a:ahLst/>
            <a:cxnLst/>
            <a:rect l="l" t="t" r="r" b="b"/>
            <a:pathLst>
              <a:path w="1264569" h="1422171">
                <a:moveTo>
                  <a:pt x="0" y="0"/>
                </a:moveTo>
                <a:lnTo>
                  <a:pt x="1264569" y="0"/>
                </a:lnTo>
                <a:lnTo>
                  <a:pt x="1264569" y="1422171"/>
                </a:lnTo>
                <a:lnTo>
                  <a:pt x="0" y="14221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36" name="TextBox 36"/>
          <p:cNvSpPr txBox="1"/>
          <p:nvPr/>
        </p:nvSpPr>
        <p:spPr>
          <a:xfrm>
            <a:off x="7351107" y="672521"/>
            <a:ext cx="3600082" cy="1192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3"/>
              </a:lnSpc>
            </a:pPr>
            <a:r>
              <a:rPr lang="en-US" sz="227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School of Computer Science &amp; Engineering</a:t>
            </a:r>
          </a:p>
          <a:p>
            <a:pPr algn="ctr">
              <a:lnSpc>
                <a:spcPts val="3183"/>
              </a:lnSpc>
            </a:pPr>
            <a:r>
              <a:rPr lang="en-US" sz="227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(SCOPE)</a:t>
            </a:r>
          </a:p>
        </p:txBody>
      </p:sp>
      <p:grpSp>
        <p:nvGrpSpPr>
          <p:cNvPr id="37" name="Group 6">
            <a:extLst>
              <a:ext uri="{FF2B5EF4-FFF2-40B4-BE49-F238E27FC236}">
                <a16:creationId xmlns:a16="http://schemas.microsoft.com/office/drawing/2014/main" id="{7633CB27-CE93-08B3-99E4-D4DCACB2BCBA}"/>
              </a:ext>
            </a:extLst>
          </p:cNvPr>
          <p:cNvGrpSpPr/>
          <p:nvPr/>
        </p:nvGrpSpPr>
        <p:grpSpPr>
          <a:xfrm>
            <a:off x="9855828" y="4535094"/>
            <a:ext cx="2286000" cy="1217991"/>
            <a:chOff x="0" y="0"/>
            <a:chExt cx="5969000" cy="2286000"/>
          </a:xfrm>
        </p:grpSpPr>
        <p:sp>
          <p:nvSpPr>
            <p:cNvPr id="38" name="Freeform 7">
              <a:extLst>
                <a:ext uri="{FF2B5EF4-FFF2-40B4-BE49-F238E27FC236}">
                  <a16:creationId xmlns:a16="http://schemas.microsoft.com/office/drawing/2014/main" id="{B0C2FD24-B277-F7E3-C439-F840A5573232}"/>
                </a:ext>
              </a:extLst>
            </p:cNvPr>
            <p:cNvSpPr/>
            <p:nvPr/>
          </p:nvSpPr>
          <p:spPr>
            <a:xfrm>
              <a:off x="0" y="0"/>
              <a:ext cx="5969000" cy="2286000"/>
            </a:xfrm>
            <a:custGeom>
              <a:avLst/>
              <a:gdLst/>
              <a:ahLst/>
              <a:cxnLst/>
              <a:rect l="l" t="t" r="r" b="b"/>
              <a:pathLst>
                <a:path w="5969000" h="2286000">
                  <a:moveTo>
                    <a:pt x="27021" y="0"/>
                  </a:moveTo>
                  <a:lnTo>
                    <a:pt x="5941979" y="0"/>
                  </a:lnTo>
                  <a:cubicBezTo>
                    <a:pt x="5949145" y="0"/>
                    <a:pt x="5956018" y="2847"/>
                    <a:pt x="5961086" y="7914"/>
                  </a:cubicBezTo>
                  <a:cubicBezTo>
                    <a:pt x="5966153" y="12982"/>
                    <a:pt x="5969000" y="19855"/>
                    <a:pt x="5969000" y="27021"/>
                  </a:cubicBezTo>
                  <a:lnTo>
                    <a:pt x="5969000" y="2258979"/>
                  </a:lnTo>
                  <a:cubicBezTo>
                    <a:pt x="5969000" y="2266145"/>
                    <a:pt x="5966153" y="2273018"/>
                    <a:pt x="5961086" y="2278086"/>
                  </a:cubicBezTo>
                  <a:cubicBezTo>
                    <a:pt x="5956018" y="2283153"/>
                    <a:pt x="5949145" y="2286000"/>
                    <a:pt x="5941979" y="2286000"/>
                  </a:cubicBezTo>
                  <a:lnTo>
                    <a:pt x="27021" y="2286000"/>
                  </a:lnTo>
                  <a:cubicBezTo>
                    <a:pt x="19855" y="2286000"/>
                    <a:pt x="12982" y="2283153"/>
                    <a:pt x="7914" y="2278086"/>
                  </a:cubicBezTo>
                  <a:cubicBezTo>
                    <a:pt x="2847" y="2273018"/>
                    <a:pt x="0" y="2266145"/>
                    <a:pt x="0" y="2258979"/>
                  </a:cubicBezTo>
                  <a:lnTo>
                    <a:pt x="0" y="27021"/>
                  </a:lnTo>
                  <a:cubicBezTo>
                    <a:pt x="0" y="19855"/>
                    <a:pt x="2847" y="12982"/>
                    <a:pt x="7914" y="7914"/>
                  </a:cubicBezTo>
                  <a:cubicBezTo>
                    <a:pt x="12982" y="2847"/>
                    <a:pt x="19855" y="0"/>
                    <a:pt x="27021" y="0"/>
                  </a:cubicBezTo>
                  <a:close/>
                </a:path>
              </a:pathLst>
            </a:custGeom>
            <a:solidFill>
              <a:srgbClr val="102B34"/>
            </a:solidFill>
            <a:ln w="9525" cap="sq">
              <a:solidFill>
                <a:srgbClr val="334155"/>
              </a:solidFill>
              <a:prstDash val="solid"/>
              <a:miter/>
            </a:ln>
          </p:spPr>
        </p:sp>
        <p:sp>
          <p:nvSpPr>
            <p:cNvPr id="39" name="TextBox 8">
              <a:extLst>
                <a:ext uri="{FF2B5EF4-FFF2-40B4-BE49-F238E27FC236}">
                  <a16:creationId xmlns:a16="http://schemas.microsoft.com/office/drawing/2014/main" id="{BCDFA1A0-ECB1-81D2-FF5C-3D0DDE2A9DD3}"/>
                </a:ext>
              </a:extLst>
            </p:cNvPr>
            <p:cNvSpPr txBox="1"/>
            <p:nvPr/>
          </p:nvSpPr>
          <p:spPr>
            <a:xfrm>
              <a:off x="0" y="9525"/>
              <a:ext cx="5969000" cy="2276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3"/>
                </a:lnSpc>
              </a:pPr>
              <a:r>
                <a:rPr lang="en-US" sz="1725" b="1" dirty="0">
                  <a:solidFill>
                    <a:srgbClr val="F8FA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CLINICAL NOTES</a:t>
              </a:r>
            </a:p>
            <a:p>
              <a:pPr algn="ctr">
                <a:lnSpc>
                  <a:spcPts val="1983"/>
                </a:lnSpc>
              </a:pPr>
              <a:r>
                <a:rPr lang="en-US" sz="1725" b="1" dirty="0">
                  <a:solidFill>
                    <a:srgbClr val="F8FA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multi-visit narrative</a:t>
              </a:r>
            </a:p>
          </p:txBody>
        </p:sp>
      </p:grpSp>
      <p:grpSp>
        <p:nvGrpSpPr>
          <p:cNvPr id="41" name="Group 10">
            <a:extLst>
              <a:ext uri="{FF2B5EF4-FFF2-40B4-BE49-F238E27FC236}">
                <a16:creationId xmlns:a16="http://schemas.microsoft.com/office/drawing/2014/main" id="{19BFE390-9E86-F004-564E-61E4CE4B7A95}"/>
              </a:ext>
            </a:extLst>
          </p:cNvPr>
          <p:cNvGrpSpPr/>
          <p:nvPr/>
        </p:nvGrpSpPr>
        <p:grpSpPr>
          <a:xfrm>
            <a:off x="12545767" y="4561241"/>
            <a:ext cx="2286000" cy="1217991"/>
            <a:chOff x="0" y="0"/>
            <a:chExt cx="5969000" cy="2286000"/>
          </a:xfrm>
        </p:grpSpPr>
        <p:sp>
          <p:nvSpPr>
            <p:cNvPr id="42" name="Freeform 11">
              <a:extLst>
                <a:ext uri="{FF2B5EF4-FFF2-40B4-BE49-F238E27FC236}">
                  <a16:creationId xmlns:a16="http://schemas.microsoft.com/office/drawing/2014/main" id="{06F297D2-E93F-92EF-EF68-D2E4C2595918}"/>
                </a:ext>
              </a:extLst>
            </p:cNvPr>
            <p:cNvSpPr/>
            <p:nvPr/>
          </p:nvSpPr>
          <p:spPr>
            <a:xfrm>
              <a:off x="0" y="0"/>
              <a:ext cx="5969000" cy="2286000"/>
            </a:xfrm>
            <a:custGeom>
              <a:avLst/>
              <a:gdLst/>
              <a:ahLst/>
              <a:cxnLst/>
              <a:rect l="l" t="t" r="r" b="b"/>
              <a:pathLst>
                <a:path w="5969000" h="2286000">
                  <a:moveTo>
                    <a:pt x="27021" y="0"/>
                  </a:moveTo>
                  <a:lnTo>
                    <a:pt x="5941979" y="0"/>
                  </a:lnTo>
                  <a:cubicBezTo>
                    <a:pt x="5949145" y="0"/>
                    <a:pt x="5956018" y="2847"/>
                    <a:pt x="5961086" y="7914"/>
                  </a:cubicBezTo>
                  <a:cubicBezTo>
                    <a:pt x="5966153" y="12982"/>
                    <a:pt x="5969000" y="19855"/>
                    <a:pt x="5969000" y="27021"/>
                  </a:cubicBezTo>
                  <a:lnTo>
                    <a:pt x="5969000" y="2258979"/>
                  </a:lnTo>
                  <a:cubicBezTo>
                    <a:pt x="5969000" y="2266145"/>
                    <a:pt x="5966153" y="2273018"/>
                    <a:pt x="5961086" y="2278086"/>
                  </a:cubicBezTo>
                  <a:cubicBezTo>
                    <a:pt x="5956018" y="2283153"/>
                    <a:pt x="5949145" y="2286000"/>
                    <a:pt x="5941979" y="2286000"/>
                  </a:cubicBezTo>
                  <a:lnTo>
                    <a:pt x="27021" y="2286000"/>
                  </a:lnTo>
                  <a:cubicBezTo>
                    <a:pt x="19855" y="2286000"/>
                    <a:pt x="12982" y="2283153"/>
                    <a:pt x="7914" y="2278086"/>
                  </a:cubicBezTo>
                  <a:cubicBezTo>
                    <a:pt x="2847" y="2273018"/>
                    <a:pt x="0" y="2266145"/>
                    <a:pt x="0" y="2258979"/>
                  </a:cubicBezTo>
                  <a:lnTo>
                    <a:pt x="0" y="27021"/>
                  </a:lnTo>
                  <a:cubicBezTo>
                    <a:pt x="0" y="19855"/>
                    <a:pt x="2847" y="12982"/>
                    <a:pt x="7914" y="7914"/>
                  </a:cubicBezTo>
                  <a:cubicBezTo>
                    <a:pt x="12982" y="2847"/>
                    <a:pt x="19855" y="0"/>
                    <a:pt x="27021" y="0"/>
                  </a:cubicBezTo>
                  <a:close/>
                </a:path>
              </a:pathLst>
            </a:custGeom>
            <a:solidFill>
              <a:srgbClr val="14B8A6"/>
            </a:solidFill>
            <a:ln w="9525" cap="sq">
              <a:solidFill>
                <a:srgbClr val="334155"/>
              </a:solidFill>
              <a:prstDash val="solid"/>
              <a:miter/>
            </a:ln>
          </p:spPr>
        </p:sp>
        <p:sp>
          <p:nvSpPr>
            <p:cNvPr id="43" name="TextBox 12">
              <a:extLst>
                <a:ext uri="{FF2B5EF4-FFF2-40B4-BE49-F238E27FC236}">
                  <a16:creationId xmlns:a16="http://schemas.microsoft.com/office/drawing/2014/main" id="{383F52C9-1E08-1DC4-C34F-03734537857C}"/>
                </a:ext>
              </a:extLst>
            </p:cNvPr>
            <p:cNvSpPr txBox="1"/>
            <p:nvPr/>
          </p:nvSpPr>
          <p:spPr>
            <a:xfrm>
              <a:off x="0" y="9525"/>
              <a:ext cx="5969000" cy="2276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3"/>
                </a:lnSpc>
              </a:pPr>
              <a:r>
                <a:rPr lang="en-US" sz="1725" b="1" dirty="0">
                  <a:solidFill>
                    <a:srgbClr val="F8FA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OLLAMA / LLAMA 3</a:t>
              </a:r>
            </a:p>
            <a:p>
              <a:pPr algn="ctr">
                <a:lnSpc>
                  <a:spcPts val="1983"/>
                </a:lnSpc>
              </a:pPr>
              <a:r>
                <a:rPr lang="en-US" sz="1725" b="1" dirty="0">
                  <a:solidFill>
                    <a:srgbClr val="F8FA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on-premise summarization</a:t>
              </a:r>
            </a:p>
          </p:txBody>
        </p:sp>
      </p:grpSp>
      <p:grpSp>
        <p:nvGrpSpPr>
          <p:cNvPr id="45" name="Group 14">
            <a:extLst>
              <a:ext uri="{FF2B5EF4-FFF2-40B4-BE49-F238E27FC236}">
                <a16:creationId xmlns:a16="http://schemas.microsoft.com/office/drawing/2014/main" id="{AAAB3C75-A280-0FC4-1117-588BE661CB5D}"/>
              </a:ext>
            </a:extLst>
          </p:cNvPr>
          <p:cNvGrpSpPr/>
          <p:nvPr/>
        </p:nvGrpSpPr>
        <p:grpSpPr>
          <a:xfrm>
            <a:off x="15039042" y="4583967"/>
            <a:ext cx="2300287" cy="1217991"/>
            <a:chOff x="-37305" y="0"/>
            <a:chExt cx="6006305" cy="2286000"/>
          </a:xfrm>
        </p:grpSpPr>
        <p:sp>
          <p:nvSpPr>
            <p:cNvPr id="46" name="Freeform 15">
              <a:extLst>
                <a:ext uri="{FF2B5EF4-FFF2-40B4-BE49-F238E27FC236}">
                  <a16:creationId xmlns:a16="http://schemas.microsoft.com/office/drawing/2014/main" id="{50D5C714-E87B-C86D-E3C2-616E88A16893}"/>
                </a:ext>
              </a:extLst>
            </p:cNvPr>
            <p:cNvSpPr/>
            <p:nvPr/>
          </p:nvSpPr>
          <p:spPr>
            <a:xfrm>
              <a:off x="0" y="0"/>
              <a:ext cx="5969000" cy="2286000"/>
            </a:xfrm>
            <a:custGeom>
              <a:avLst/>
              <a:gdLst/>
              <a:ahLst/>
              <a:cxnLst/>
              <a:rect l="l" t="t" r="r" b="b"/>
              <a:pathLst>
                <a:path w="5969000" h="2286000">
                  <a:moveTo>
                    <a:pt x="27021" y="0"/>
                  </a:moveTo>
                  <a:lnTo>
                    <a:pt x="5941979" y="0"/>
                  </a:lnTo>
                  <a:cubicBezTo>
                    <a:pt x="5949145" y="0"/>
                    <a:pt x="5956018" y="2847"/>
                    <a:pt x="5961086" y="7914"/>
                  </a:cubicBezTo>
                  <a:cubicBezTo>
                    <a:pt x="5966153" y="12982"/>
                    <a:pt x="5969000" y="19855"/>
                    <a:pt x="5969000" y="27021"/>
                  </a:cubicBezTo>
                  <a:lnTo>
                    <a:pt x="5969000" y="2258979"/>
                  </a:lnTo>
                  <a:cubicBezTo>
                    <a:pt x="5969000" y="2266145"/>
                    <a:pt x="5966153" y="2273018"/>
                    <a:pt x="5961086" y="2278086"/>
                  </a:cubicBezTo>
                  <a:cubicBezTo>
                    <a:pt x="5956018" y="2283153"/>
                    <a:pt x="5949145" y="2286000"/>
                    <a:pt x="5941979" y="2286000"/>
                  </a:cubicBezTo>
                  <a:lnTo>
                    <a:pt x="27021" y="2286000"/>
                  </a:lnTo>
                  <a:cubicBezTo>
                    <a:pt x="19855" y="2286000"/>
                    <a:pt x="12982" y="2283153"/>
                    <a:pt x="7914" y="2278086"/>
                  </a:cubicBezTo>
                  <a:cubicBezTo>
                    <a:pt x="2847" y="2273018"/>
                    <a:pt x="0" y="2266145"/>
                    <a:pt x="0" y="2258979"/>
                  </a:cubicBezTo>
                  <a:lnTo>
                    <a:pt x="0" y="27021"/>
                  </a:lnTo>
                  <a:cubicBezTo>
                    <a:pt x="0" y="19855"/>
                    <a:pt x="2847" y="12982"/>
                    <a:pt x="7914" y="7914"/>
                  </a:cubicBezTo>
                  <a:cubicBezTo>
                    <a:pt x="12982" y="2847"/>
                    <a:pt x="19855" y="0"/>
                    <a:pt x="27021" y="0"/>
                  </a:cubicBezTo>
                  <a:close/>
                </a:path>
              </a:pathLst>
            </a:custGeom>
            <a:solidFill>
              <a:srgbClr val="102B34"/>
            </a:solidFill>
            <a:ln w="9525" cap="sq">
              <a:solidFill>
                <a:srgbClr val="334155"/>
              </a:solidFill>
              <a:prstDash val="solid"/>
              <a:miter/>
            </a:ln>
          </p:spPr>
        </p:sp>
        <p:sp>
          <p:nvSpPr>
            <p:cNvPr id="47" name="TextBox 16">
              <a:extLst>
                <a:ext uri="{FF2B5EF4-FFF2-40B4-BE49-F238E27FC236}">
                  <a16:creationId xmlns:a16="http://schemas.microsoft.com/office/drawing/2014/main" id="{1F9103A4-845A-C11F-F1BC-4AD5F8842BEF}"/>
                </a:ext>
              </a:extLst>
            </p:cNvPr>
            <p:cNvSpPr txBox="1"/>
            <p:nvPr/>
          </p:nvSpPr>
          <p:spPr>
            <a:xfrm>
              <a:off x="-37305" y="9525"/>
              <a:ext cx="5969000" cy="2276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3"/>
                </a:lnSpc>
              </a:pPr>
              <a:r>
                <a:rPr lang="en-US" sz="1725" b="1" dirty="0">
                  <a:solidFill>
                    <a:srgbClr val="F8FA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STRUCTURED SUMMARY</a:t>
              </a:r>
            </a:p>
            <a:p>
              <a:pPr algn="ctr">
                <a:lnSpc>
                  <a:spcPts val="1983"/>
                </a:lnSpc>
              </a:pPr>
              <a:r>
                <a:rPr lang="en-US" sz="1725" b="1" dirty="0">
                  <a:solidFill>
                    <a:srgbClr val="F8FAF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problems · therapy · follow-up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6" b="-26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302297" cy="82363"/>
            <a:chOff x="0" y="0"/>
            <a:chExt cx="24403063" cy="10981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403050" cy="109855"/>
            </a:xfrm>
            <a:custGeom>
              <a:avLst/>
              <a:gdLst/>
              <a:ahLst/>
              <a:cxnLst/>
              <a:rect l="l" t="t" r="r" b="b"/>
              <a:pathLst>
                <a:path w="24403050" h="109855">
                  <a:moveTo>
                    <a:pt x="0" y="0"/>
                  </a:moveTo>
                  <a:lnTo>
                    <a:pt x="24403050" y="0"/>
                  </a:lnTo>
                  <a:lnTo>
                    <a:pt x="24403050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2AC976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0" y="10185225"/>
            <a:ext cx="18302297" cy="109814"/>
            <a:chOff x="0" y="0"/>
            <a:chExt cx="24403063" cy="14641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403050" cy="146431"/>
            </a:xfrm>
            <a:custGeom>
              <a:avLst/>
              <a:gdLst/>
              <a:ahLst/>
              <a:cxnLst/>
              <a:rect l="l" t="t" r="r" b="b"/>
              <a:pathLst>
                <a:path w="24403050" h="146431">
                  <a:moveTo>
                    <a:pt x="0" y="0"/>
                  </a:moveTo>
                  <a:lnTo>
                    <a:pt x="24403050" y="0"/>
                  </a:lnTo>
                  <a:lnTo>
                    <a:pt x="24403050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278DD6"/>
            </a:solidFill>
          </p:spPr>
        </p:sp>
      </p:grpSp>
      <p:sp>
        <p:nvSpPr>
          <p:cNvPr id="7" name="TextBox 7"/>
          <p:cNvSpPr txBox="1"/>
          <p:nvPr/>
        </p:nvSpPr>
        <p:spPr>
          <a:xfrm>
            <a:off x="846411" y="2224068"/>
            <a:ext cx="16151924" cy="859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1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06. IMPACT, ROADMAP &amp; TEAM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87587" y="3065602"/>
            <a:ext cx="15602855" cy="526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B1C0CD"/>
                </a:solidFill>
                <a:latin typeface="Aptos"/>
                <a:ea typeface="Aptos"/>
                <a:cs typeface="Aptos"/>
                <a:sym typeface="Aptos"/>
              </a:rPr>
              <a:t>Conclude with the potential of your solution and the people building it.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505649" y="3696681"/>
            <a:ext cx="5509755" cy="4892050"/>
            <a:chOff x="0" y="0"/>
            <a:chExt cx="7346340" cy="652273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346315" cy="6522720"/>
            </a:xfrm>
            <a:custGeom>
              <a:avLst/>
              <a:gdLst/>
              <a:ahLst/>
              <a:cxnLst/>
              <a:rect l="l" t="t" r="r" b="b"/>
              <a:pathLst>
                <a:path w="7346315" h="6522720">
                  <a:moveTo>
                    <a:pt x="0" y="1087120"/>
                  </a:moveTo>
                  <a:cubicBezTo>
                    <a:pt x="0" y="486791"/>
                    <a:pt x="486791" y="0"/>
                    <a:pt x="1087120" y="0"/>
                  </a:cubicBezTo>
                  <a:lnTo>
                    <a:pt x="6259195" y="0"/>
                  </a:lnTo>
                  <a:cubicBezTo>
                    <a:pt x="6859651" y="0"/>
                    <a:pt x="7346315" y="486791"/>
                    <a:pt x="7346315" y="1087120"/>
                  </a:cubicBezTo>
                  <a:lnTo>
                    <a:pt x="7346315" y="5435600"/>
                  </a:lnTo>
                  <a:cubicBezTo>
                    <a:pt x="7346315" y="6036056"/>
                    <a:pt x="6859524" y="6522720"/>
                    <a:pt x="6259195" y="6522720"/>
                  </a:cubicBezTo>
                  <a:lnTo>
                    <a:pt x="1087120" y="6522720"/>
                  </a:lnTo>
                  <a:cubicBezTo>
                    <a:pt x="486791" y="6522720"/>
                    <a:pt x="0" y="6036056"/>
                    <a:pt x="0" y="5435600"/>
                  </a:cubicBezTo>
                  <a:close/>
                </a:path>
              </a:pathLst>
            </a:custGeom>
            <a:solidFill>
              <a:srgbClr val="12273B"/>
            </a:solidFill>
            <a:ln w="19065" cap="sq">
              <a:solidFill>
                <a:srgbClr val="304F67"/>
              </a:solidFill>
              <a:prstDash val="solid"/>
              <a:miter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593963" y="3715422"/>
            <a:ext cx="5235216" cy="4892050"/>
            <a:chOff x="0" y="0"/>
            <a:chExt cx="6980288" cy="652273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980301" cy="6522720"/>
            </a:xfrm>
            <a:custGeom>
              <a:avLst/>
              <a:gdLst/>
              <a:ahLst/>
              <a:cxnLst/>
              <a:rect l="l" t="t" r="r" b="b"/>
              <a:pathLst>
                <a:path w="6980301" h="6522720">
                  <a:moveTo>
                    <a:pt x="0" y="1087120"/>
                  </a:moveTo>
                  <a:cubicBezTo>
                    <a:pt x="0" y="486791"/>
                    <a:pt x="486791" y="0"/>
                    <a:pt x="1087120" y="0"/>
                  </a:cubicBezTo>
                  <a:lnTo>
                    <a:pt x="5893181" y="0"/>
                  </a:lnTo>
                  <a:cubicBezTo>
                    <a:pt x="6493637" y="0"/>
                    <a:pt x="6980301" y="486791"/>
                    <a:pt x="6980301" y="1087120"/>
                  </a:cubicBezTo>
                  <a:lnTo>
                    <a:pt x="6980301" y="5435600"/>
                  </a:lnTo>
                  <a:cubicBezTo>
                    <a:pt x="6980301" y="6036056"/>
                    <a:pt x="6493510" y="6522720"/>
                    <a:pt x="5893181" y="6522720"/>
                  </a:cubicBezTo>
                  <a:lnTo>
                    <a:pt x="1087120" y="6522720"/>
                  </a:lnTo>
                  <a:cubicBezTo>
                    <a:pt x="486791" y="6522720"/>
                    <a:pt x="0" y="6036056"/>
                    <a:pt x="0" y="5435600"/>
                  </a:cubicBezTo>
                  <a:close/>
                </a:path>
              </a:pathLst>
            </a:custGeom>
            <a:solidFill>
              <a:srgbClr val="12273B"/>
            </a:solidFill>
            <a:ln w="19065" cap="sq">
              <a:solidFill>
                <a:srgbClr val="304F67"/>
              </a:solidFill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12069985" y="3696681"/>
            <a:ext cx="5372491" cy="4892050"/>
            <a:chOff x="0" y="0"/>
            <a:chExt cx="7163321" cy="652273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163308" cy="6522720"/>
            </a:xfrm>
            <a:custGeom>
              <a:avLst/>
              <a:gdLst/>
              <a:ahLst/>
              <a:cxnLst/>
              <a:rect l="l" t="t" r="r" b="b"/>
              <a:pathLst>
                <a:path w="7163308" h="6522720">
                  <a:moveTo>
                    <a:pt x="0" y="1087120"/>
                  </a:moveTo>
                  <a:cubicBezTo>
                    <a:pt x="0" y="486791"/>
                    <a:pt x="486791" y="0"/>
                    <a:pt x="1087120" y="0"/>
                  </a:cubicBezTo>
                  <a:lnTo>
                    <a:pt x="6076188" y="0"/>
                  </a:lnTo>
                  <a:cubicBezTo>
                    <a:pt x="6676644" y="0"/>
                    <a:pt x="7163308" y="486791"/>
                    <a:pt x="7163308" y="1087120"/>
                  </a:cubicBezTo>
                  <a:lnTo>
                    <a:pt x="7163308" y="5435600"/>
                  </a:lnTo>
                  <a:cubicBezTo>
                    <a:pt x="7163308" y="6036056"/>
                    <a:pt x="6676517" y="6522720"/>
                    <a:pt x="6076188" y="6522720"/>
                  </a:cubicBezTo>
                  <a:lnTo>
                    <a:pt x="1087120" y="6522720"/>
                  </a:lnTo>
                  <a:cubicBezTo>
                    <a:pt x="486791" y="6522720"/>
                    <a:pt x="0" y="6036056"/>
                    <a:pt x="0" y="5435600"/>
                  </a:cubicBezTo>
                  <a:close/>
                </a:path>
              </a:pathLst>
            </a:custGeom>
            <a:solidFill>
              <a:srgbClr val="12273B"/>
            </a:solidFill>
            <a:ln w="19065" cap="sq">
              <a:solidFill>
                <a:srgbClr val="304F67"/>
              </a:solidFill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617706" y="9471441"/>
            <a:ext cx="17062313" cy="20593"/>
            <a:chOff x="0" y="0"/>
            <a:chExt cx="22749751" cy="2745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2749763" cy="27432"/>
            </a:xfrm>
            <a:custGeom>
              <a:avLst/>
              <a:gdLst/>
              <a:ahLst/>
              <a:cxnLst/>
              <a:rect l="l" t="t" r="r" b="b"/>
              <a:pathLst>
                <a:path w="22749763" h="27432">
                  <a:moveTo>
                    <a:pt x="0" y="0"/>
                  </a:moveTo>
                  <a:lnTo>
                    <a:pt x="22749763" y="0"/>
                  </a:lnTo>
                  <a:lnTo>
                    <a:pt x="22749763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304F67"/>
            </a:solidFill>
          </p:spPr>
        </p:sp>
      </p:grpSp>
      <p:sp>
        <p:nvSpPr>
          <p:cNvPr id="17" name="Freeform 17"/>
          <p:cNvSpPr/>
          <p:nvPr/>
        </p:nvSpPr>
        <p:spPr>
          <a:xfrm>
            <a:off x="14759907" y="2411188"/>
            <a:ext cx="2499393" cy="833131"/>
          </a:xfrm>
          <a:custGeom>
            <a:avLst/>
            <a:gdLst/>
            <a:ahLst/>
            <a:cxnLst/>
            <a:rect l="l" t="t" r="r" b="b"/>
            <a:pathLst>
              <a:path w="2499393" h="833131">
                <a:moveTo>
                  <a:pt x="0" y="0"/>
                </a:moveTo>
                <a:lnTo>
                  <a:pt x="2499393" y="0"/>
                </a:lnTo>
                <a:lnTo>
                  <a:pt x="2499393" y="833131"/>
                </a:lnTo>
                <a:lnTo>
                  <a:pt x="0" y="8331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299391" y="3989489"/>
            <a:ext cx="4621473" cy="39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EXPECTED IMPACT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35738" y="4591600"/>
            <a:ext cx="4621473" cy="3324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dirty="0">
                <a:solidFill>
                  <a:schemeClr val="bg1">
                    <a:lumMod val="75000"/>
                  </a:schemeClr>
                </a:solidFill>
              </a:rPr>
              <a:t>Real-time patient state estimation via Digital Twins and instant AI-assisted radiology screening (DenseNet121) drastically reduces diagnostic delays.</a:t>
            </a:r>
          </a:p>
          <a:p>
            <a:r>
              <a:rPr lang="en-IN" dirty="0">
                <a:solidFill>
                  <a:schemeClr val="bg1">
                    <a:lumMod val="75000"/>
                  </a:schemeClr>
                </a:solidFill>
              </a:rPr>
              <a:t>Eliminates administrative bottlenecks, alleviates doctor burnout, and democratizes advanced, rapid diagnostic tech for crowded  care clinics</a:t>
            </a:r>
          </a:p>
          <a:p>
            <a:r>
              <a:rPr lang="en-IN" dirty="0">
                <a:solidFill>
                  <a:schemeClr val="bg1">
                    <a:lumMod val="75000"/>
                  </a:schemeClr>
                </a:solidFill>
              </a:rPr>
              <a:t>Highly affordable IoT hardware (under ₹5,000/unit) paired with a scalable cloud infrastructure (</a:t>
            </a:r>
            <a:r>
              <a:rPr lang="en-IN" dirty="0" err="1">
                <a:solidFill>
                  <a:schemeClr val="bg1">
                    <a:lumMod val="75000"/>
                  </a:schemeClr>
                </a:solidFill>
              </a:rPr>
              <a:t>FastAPI</a:t>
            </a:r>
            <a:r>
              <a:rPr lang="en-IN" dirty="0">
                <a:solidFill>
                  <a:schemeClr val="bg1">
                    <a:lumMod val="75000"/>
                  </a:schemeClr>
                </a:solidFill>
              </a:rPr>
              <a:t> + </a:t>
            </a:r>
            <a:r>
              <a:rPr lang="en-IN" dirty="0" err="1">
                <a:solidFill>
                  <a:schemeClr val="bg1">
                    <a:lumMod val="75000"/>
                  </a:schemeClr>
                </a:solidFill>
              </a:rPr>
              <a:t>Supabase</a:t>
            </a:r>
            <a:r>
              <a:rPr lang="en-IN" dirty="0">
                <a:solidFill>
                  <a:schemeClr val="bg1">
                    <a:lumMod val="75000"/>
                  </a:schemeClr>
                </a:solidFill>
              </a:rPr>
              <a:t>) ensures rapid B2B deployment across hospital chains..</a:t>
            </a:r>
          </a:p>
          <a:p>
            <a:endParaRPr lang="en-US" sz="1801" dirty="0">
              <a:solidFill>
                <a:schemeClr val="bg1">
                  <a:lumMod val="75000"/>
                </a:schemeClr>
              </a:solidFill>
              <a:latin typeface="Aptos"/>
              <a:ea typeface="Aptos"/>
              <a:cs typeface="Aptos"/>
              <a:sym typeface="Aptos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7064616" y="3989489"/>
            <a:ext cx="4346943" cy="39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NEXT 6–12 MONTHS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970528" y="4455847"/>
            <a:ext cx="4346943" cy="3877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/>
            <a:r>
              <a:rPr lang="en-IN" b="1" dirty="0">
                <a:solidFill>
                  <a:schemeClr val="bg1">
                    <a:lumMod val="75000"/>
                  </a:schemeClr>
                </a:solidFill>
              </a:rPr>
              <a:t>Milestone 1 (Months 1-3):</a:t>
            </a:r>
            <a:r>
              <a:rPr lang="en-IN" dirty="0">
                <a:solidFill>
                  <a:schemeClr val="bg1">
                    <a:lumMod val="75000"/>
                  </a:schemeClr>
                </a:solidFill>
              </a:rPr>
              <a:t> Develop core HIMS dashboard UI, establish </a:t>
            </a:r>
            <a:r>
              <a:rPr lang="en-IN" dirty="0" err="1">
                <a:solidFill>
                  <a:schemeClr val="bg1">
                    <a:lumMod val="75000"/>
                  </a:schemeClr>
                </a:solidFill>
              </a:rPr>
              <a:t>FastAPI</a:t>
            </a:r>
            <a:r>
              <a:rPr lang="en-IN" dirty="0">
                <a:solidFill>
                  <a:schemeClr val="bg1">
                    <a:lumMod val="75000"/>
                  </a:schemeClr>
                </a:solidFill>
              </a:rPr>
              <a:t>/</a:t>
            </a:r>
            <a:r>
              <a:rPr lang="en-IN" dirty="0" err="1">
                <a:solidFill>
                  <a:schemeClr val="bg1">
                    <a:lumMod val="75000"/>
                  </a:schemeClr>
                </a:solidFill>
              </a:rPr>
              <a:t>Supabase</a:t>
            </a:r>
            <a:r>
              <a:rPr lang="en-IN" dirty="0">
                <a:solidFill>
                  <a:schemeClr val="bg1">
                    <a:lumMod val="75000"/>
                  </a:schemeClr>
                </a:solidFill>
              </a:rPr>
              <a:t> backend, and validate baseline breadboard IoT prototype.</a:t>
            </a:r>
          </a:p>
          <a:p>
            <a:pPr lvl="0"/>
            <a:r>
              <a:rPr lang="en-IN" b="1" dirty="0">
                <a:solidFill>
                  <a:schemeClr val="bg1">
                    <a:lumMod val="75000"/>
                  </a:schemeClr>
                </a:solidFill>
              </a:rPr>
              <a:t>Milestone 2 (Months 4-6):</a:t>
            </a:r>
            <a:r>
              <a:rPr lang="en-IN" dirty="0">
                <a:solidFill>
                  <a:schemeClr val="bg1">
                    <a:lumMod val="75000"/>
                  </a:schemeClr>
                </a:solidFill>
              </a:rPr>
              <a:t> Integrate AI models (</a:t>
            </a:r>
            <a:r>
              <a:rPr lang="en-IN" dirty="0" err="1">
                <a:solidFill>
                  <a:schemeClr val="bg1">
                    <a:lumMod val="75000"/>
                  </a:schemeClr>
                </a:solidFill>
              </a:rPr>
              <a:t>PyTorch</a:t>
            </a:r>
            <a:r>
              <a:rPr lang="en-IN" dirty="0">
                <a:solidFill>
                  <a:schemeClr val="bg1">
                    <a:lumMod val="75000"/>
                  </a:schemeClr>
                </a:solidFill>
              </a:rPr>
              <a:t>/LLMs) and establish WebSocket telemetry for live Digital Twin rendering.</a:t>
            </a:r>
          </a:p>
          <a:p>
            <a:pPr lvl="0"/>
            <a:r>
              <a:rPr lang="en-IN" b="1" dirty="0">
                <a:solidFill>
                  <a:schemeClr val="bg1">
                    <a:lumMod val="75000"/>
                  </a:schemeClr>
                </a:solidFill>
              </a:rPr>
              <a:t>Milestone 3 (Months 7-9):</a:t>
            </a:r>
            <a:r>
              <a:rPr lang="en-IN" dirty="0">
                <a:solidFill>
                  <a:schemeClr val="bg1">
                    <a:lumMod val="75000"/>
                  </a:schemeClr>
                </a:solidFill>
              </a:rPr>
              <a:t> Fabricate custom PCBs, 3D print the Smart Kiosk enclosure, and launch the Kotlin Android app for clinic staff.</a:t>
            </a:r>
          </a:p>
          <a:p>
            <a:pPr lvl="0"/>
            <a:r>
              <a:rPr lang="en-IN" b="1" dirty="0">
                <a:solidFill>
                  <a:schemeClr val="bg1">
                    <a:lumMod val="75000"/>
                  </a:schemeClr>
                </a:solidFill>
              </a:rPr>
              <a:t>Milestone 4 (Months 10-12):</a:t>
            </a:r>
            <a:r>
              <a:rPr lang="en-IN" dirty="0">
                <a:solidFill>
                  <a:schemeClr val="bg1">
                    <a:lumMod val="75000"/>
                  </a:schemeClr>
                </a:solidFill>
              </a:rPr>
              <a:t> Conduct full-loop clinical stress testing, optimize AI accuracy, and file for patents through the VIT IPR Cell.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555303" y="3989489"/>
            <a:ext cx="4484208" cy="39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TEAM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555303" y="4644171"/>
            <a:ext cx="4484208" cy="2215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/>
            <a:r>
              <a:rPr lang="en-IN" sz="2400" b="1" dirty="0">
                <a:solidFill>
                  <a:schemeClr val="bg1">
                    <a:lumMod val="75000"/>
                  </a:schemeClr>
                </a:solidFill>
              </a:rPr>
              <a:t>Abhinav Shekhar</a:t>
            </a:r>
            <a:r>
              <a:rPr lang="en-IN" sz="2400" dirty="0">
                <a:solidFill>
                  <a:schemeClr val="bg1">
                    <a:lumMod val="75000"/>
                  </a:schemeClr>
                </a:solidFill>
              </a:rPr>
              <a:t> : Solo Developer &amp; System Architect (Frontend, Backend, AI &amp; IoT</a:t>
            </a:r>
          </a:p>
          <a:p>
            <a:pPr lvl="0"/>
            <a:r>
              <a:rPr lang="en-IN" sz="2400" dirty="0">
                <a:solidFill>
                  <a:schemeClr val="bg1">
                    <a:lumMod val="7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Abhinav.skekhar2026@vitstudent.ac.in</a:t>
            </a:r>
            <a:endParaRPr lang="en-IN" sz="2400" dirty="0">
              <a:solidFill>
                <a:schemeClr val="bg1">
                  <a:lumMod val="75000"/>
                </a:schemeClr>
              </a:solidFill>
            </a:endParaRPr>
          </a:p>
          <a:p>
            <a:pPr lvl="0"/>
            <a:r>
              <a:rPr lang="en-IN" sz="2400" dirty="0">
                <a:solidFill>
                  <a:schemeClr val="bg1">
                    <a:lumMod val="75000"/>
                  </a:schemeClr>
                </a:solidFill>
              </a:rPr>
              <a:t>8905501680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77773" y="9672352"/>
            <a:ext cx="13543845" cy="261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B1C0CD"/>
                </a:solidFill>
                <a:latin typeface="Aptos"/>
                <a:ea typeface="Aptos"/>
                <a:cs typeface="Aptos"/>
                <a:sym typeface="Aptos"/>
              </a:rPr>
              <a:t>VMEDITHON 3.0  •  HACKATHON &amp; BUILDATHON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6838047" y="9626975"/>
            <a:ext cx="503453" cy="320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1">
                <a:solidFill>
                  <a:srgbClr val="2AC976"/>
                </a:solidFill>
                <a:latin typeface="Aptos Bold"/>
                <a:ea typeface="Aptos Bold"/>
                <a:cs typeface="Aptos Bold"/>
                <a:sym typeface="Aptos Bold"/>
              </a:rPr>
              <a:t>7/7</a:t>
            </a:r>
          </a:p>
        </p:txBody>
      </p:sp>
      <p:sp>
        <p:nvSpPr>
          <p:cNvPr id="26" name="Freeform 26"/>
          <p:cNvSpPr/>
          <p:nvPr/>
        </p:nvSpPr>
        <p:spPr>
          <a:xfrm>
            <a:off x="505649" y="19050"/>
            <a:ext cx="2276856" cy="1955414"/>
          </a:xfrm>
          <a:custGeom>
            <a:avLst/>
            <a:gdLst/>
            <a:ahLst/>
            <a:cxnLst/>
            <a:rect l="l" t="t" r="r" b="b"/>
            <a:pathLst>
              <a:path w="2276856" h="1955414">
                <a:moveTo>
                  <a:pt x="0" y="0"/>
                </a:moveTo>
                <a:lnTo>
                  <a:pt x="2276856" y="0"/>
                </a:lnTo>
                <a:lnTo>
                  <a:pt x="2276856" y="1955414"/>
                </a:lnTo>
                <a:lnTo>
                  <a:pt x="0" y="19554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157646" b="-100000"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3891143" y="9525"/>
            <a:ext cx="2059249" cy="2186645"/>
          </a:xfrm>
          <a:custGeom>
            <a:avLst/>
            <a:gdLst/>
            <a:ahLst/>
            <a:cxnLst/>
            <a:rect l="l" t="t" r="r" b="b"/>
            <a:pathLst>
              <a:path w="2059249" h="2186645">
                <a:moveTo>
                  <a:pt x="0" y="0"/>
                </a:moveTo>
                <a:lnTo>
                  <a:pt x="2059249" y="0"/>
                </a:lnTo>
                <a:lnTo>
                  <a:pt x="2059249" y="2186645"/>
                </a:lnTo>
                <a:lnTo>
                  <a:pt x="0" y="21866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98791" b="-87588"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5603719" y="336157"/>
            <a:ext cx="2016514" cy="1935237"/>
          </a:xfrm>
          <a:custGeom>
            <a:avLst/>
            <a:gdLst/>
            <a:ahLst/>
            <a:cxnLst/>
            <a:rect l="l" t="t" r="r" b="b"/>
            <a:pathLst>
              <a:path w="2016514" h="1935237">
                <a:moveTo>
                  <a:pt x="0" y="0"/>
                </a:moveTo>
                <a:lnTo>
                  <a:pt x="2016514" y="0"/>
                </a:lnTo>
                <a:lnTo>
                  <a:pt x="2016514" y="1935238"/>
                </a:lnTo>
                <a:lnTo>
                  <a:pt x="0" y="19352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09871" r="-202118"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0837545" y="71434"/>
            <a:ext cx="3650548" cy="2464684"/>
          </a:xfrm>
          <a:custGeom>
            <a:avLst/>
            <a:gdLst/>
            <a:ahLst/>
            <a:cxnLst/>
            <a:rect l="l" t="t" r="r" b="b"/>
            <a:pathLst>
              <a:path w="3650548" h="2464684">
                <a:moveTo>
                  <a:pt x="0" y="0"/>
                </a:moveTo>
                <a:lnTo>
                  <a:pt x="3650547" y="0"/>
                </a:lnTo>
                <a:lnTo>
                  <a:pt x="3650547" y="2464684"/>
                </a:lnTo>
                <a:lnTo>
                  <a:pt x="0" y="24646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88505" t="-153689" r="-87488" b="-18834"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6192765" y="336157"/>
            <a:ext cx="1794017" cy="1957095"/>
          </a:xfrm>
          <a:custGeom>
            <a:avLst/>
            <a:gdLst/>
            <a:ahLst/>
            <a:cxnLst/>
            <a:rect l="l" t="t" r="r" b="b"/>
            <a:pathLst>
              <a:path w="1794017" h="1957095">
                <a:moveTo>
                  <a:pt x="0" y="0"/>
                </a:moveTo>
                <a:lnTo>
                  <a:pt x="1794018" y="0"/>
                </a:lnTo>
                <a:lnTo>
                  <a:pt x="1794018" y="1957095"/>
                </a:lnTo>
                <a:lnTo>
                  <a:pt x="0" y="19570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55724" t="-115126" r="-9421" b="-8019"/>
            </a:stretch>
          </a:blipFill>
        </p:spPr>
      </p:sp>
      <p:grpSp>
        <p:nvGrpSpPr>
          <p:cNvPr id="31" name="Group 31"/>
          <p:cNvGrpSpPr/>
          <p:nvPr/>
        </p:nvGrpSpPr>
        <p:grpSpPr>
          <a:xfrm>
            <a:off x="14650017" y="631433"/>
            <a:ext cx="1312757" cy="1312757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1"/>
                </a:lnSpc>
              </a:pPr>
              <a:endParaRPr/>
            </a:p>
          </p:txBody>
        </p:sp>
      </p:grpSp>
      <p:sp>
        <p:nvSpPr>
          <p:cNvPr id="34" name="Freeform 34"/>
          <p:cNvSpPr/>
          <p:nvPr/>
        </p:nvSpPr>
        <p:spPr>
          <a:xfrm>
            <a:off x="15016504" y="865339"/>
            <a:ext cx="681540" cy="844946"/>
          </a:xfrm>
          <a:custGeom>
            <a:avLst/>
            <a:gdLst/>
            <a:ahLst/>
            <a:cxnLst/>
            <a:rect l="l" t="t" r="r" b="b"/>
            <a:pathLst>
              <a:path w="681540" h="844946">
                <a:moveTo>
                  <a:pt x="0" y="0"/>
                </a:moveTo>
                <a:lnTo>
                  <a:pt x="681540" y="0"/>
                </a:lnTo>
                <a:lnTo>
                  <a:pt x="681540" y="844946"/>
                </a:lnTo>
                <a:lnTo>
                  <a:pt x="0" y="84494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r="-519879"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2685759" y="420802"/>
            <a:ext cx="1264569" cy="1422171"/>
          </a:xfrm>
          <a:custGeom>
            <a:avLst/>
            <a:gdLst/>
            <a:ahLst/>
            <a:cxnLst/>
            <a:rect l="l" t="t" r="r" b="b"/>
            <a:pathLst>
              <a:path w="1264569" h="1422171">
                <a:moveTo>
                  <a:pt x="0" y="0"/>
                </a:moveTo>
                <a:lnTo>
                  <a:pt x="1264569" y="0"/>
                </a:lnTo>
                <a:lnTo>
                  <a:pt x="1264569" y="1422171"/>
                </a:lnTo>
                <a:lnTo>
                  <a:pt x="0" y="142217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36" name="TextBox 36"/>
          <p:cNvSpPr txBox="1"/>
          <p:nvPr/>
        </p:nvSpPr>
        <p:spPr>
          <a:xfrm>
            <a:off x="7351107" y="672521"/>
            <a:ext cx="3600082" cy="1192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3"/>
              </a:lnSpc>
            </a:pPr>
            <a:r>
              <a:rPr lang="en-US" sz="227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School of Computer Science &amp; Engineering</a:t>
            </a:r>
          </a:p>
          <a:p>
            <a:pPr algn="ctr">
              <a:lnSpc>
                <a:spcPts val="3183"/>
              </a:lnSpc>
            </a:pPr>
            <a:r>
              <a:rPr lang="en-US" sz="227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(SCOPE)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6" b="-26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302297" cy="82363"/>
            <a:chOff x="0" y="0"/>
            <a:chExt cx="24403063" cy="10981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403050" cy="109855"/>
            </a:xfrm>
            <a:custGeom>
              <a:avLst/>
              <a:gdLst/>
              <a:ahLst/>
              <a:cxnLst/>
              <a:rect l="l" t="t" r="r" b="b"/>
              <a:pathLst>
                <a:path w="24403050" h="109855">
                  <a:moveTo>
                    <a:pt x="0" y="0"/>
                  </a:moveTo>
                  <a:lnTo>
                    <a:pt x="24403050" y="0"/>
                  </a:lnTo>
                  <a:lnTo>
                    <a:pt x="24403050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2AC976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0" y="10185225"/>
            <a:ext cx="18302297" cy="109814"/>
            <a:chOff x="0" y="0"/>
            <a:chExt cx="24403063" cy="14641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403050" cy="146431"/>
            </a:xfrm>
            <a:custGeom>
              <a:avLst/>
              <a:gdLst/>
              <a:ahLst/>
              <a:cxnLst/>
              <a:rect l="l" t="t" r="r" b="b"/>
              <a:pathLst>
                <a:path w="24403050" h="146431">
                  <a:moveTo>
                    <a:pt x="0" y="0"/>
                  </a:moveTo>
                  <a:lnTo>
                    <a:pt x="24403050" y="0"/>
                  </a:lnTo>
                  <a:lnTo>
                    <a:pt x="24403050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278DD6"/>
            </a:solidFill>
          </p:spPr>
        </p:sp>
      </p:grpSp>
      <p:sp>
        <p:nvSpPr>
          <p:cNvPr id="7" name="TextBox 7"/>
          <p:cNvSpPr txBox="1"/>
          <p:nvPr/>
        </p:nvSpPr>
        <p:spPr>
          <a:xfrm>
            <a:off x="6007542" y="4271782"/>
            <a:ext cx="8210883" cy="1944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235"/>
              </a:lnSpc>
            </a:pPr>
            <a:r>
              <a:rPr lang="en-US" sz="12696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han</a:t>
            </a:r>
            <a:r>
              <a:rPr lang="en-US" sz="12696">
                <a:solidFill>
                  <a:srgbClr val="FFC700"/>
                </a:solidFill>
                <a:latin typeface="Archivo Black"/>
                <a:ea typeface="Archivo Black"/>
                <a:cs typeface="Archivo Black"/>
                <a:sym typeface="Archivo Black"/>
              </a:rPr>
              <a:t>k </a:t>
            </a:r>
            <a:r>
              <a:rPr lang="en-US" sz="12696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y</a:t>
            </a:r>
            <a:r>
              <a:rPr lang="en-US" sz="12696">
                <a:solidFill>
                  <a:srgbClr val="278DD6"/>
                </a:solidFill>
                <a:latin typeface="Archivo Black"/>
                <a:ea typeface="Archivo Black"/>
                <a:cs typeface="Archivo Black"/>
                <a:sym typeface="Archivo Black"/>
              </a:rPr>
              <a:t>o</a:t>
            </a:r>
            <a:r>
              <a:rPr lang="en-US" sz="12696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u</a:t>
            </a:r>
            <a:r>
              <a:rPr lang="en-US" sz="12696">
                <a:solidFill>
                  <a:srgbClr val="FFC7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</a:t>
            </a:r>
          </a:p>
        </p:txBody>
      </p:sp>
      <p:sp>
        <p:nvSpPr>
          <p:cNvPr id="8" name="Freeform 8"/>
          <p:cNvSpPr/>
          <p:nvPr/>
        </p:nvSpPr>
        <p:spPr>
          <a:xfrm>
            <a:off x="4103306" y="3669868"/>
            <a:ext cx="2358214" cy="2635006"/>
          </a:xfrm>
          <a:custGeom>
            <a:avLst/>
            <a:gdLst/>
            <a:ahLst/>
            <a:cxnLst/>
            <a:rect l="l" t="t" r="r" b="b"/>
            <a:pathLst>
              <a:path w="2358214" h="2635006">
                <a:moveTo>
                  <a:pt x="0" y="0"/>
                </a:moveTo>
                <a:lnTo>
                  <a:pt x="2358214" y="0"/>
                </a:lnTo>
                <a:lnTo>
                  <a:pt x="2358214" y="2635006"/>
                </a:lnTo>
                <a:lnTo>
                  <a:pt x="0" y="26350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2479" t="-4075" r="-127625" b="-9317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777773" y="9672352"/>
            <a:ext cx="13543845" cy="261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B1C0CD"/>
                </a:solidFill>
                <a:latin typeface="Aptos"/>
                <a:ea typeface="Aptos"/>
                <a:cs typeface="Aptos"/>
                <a:sym typeface="Aptos"/>
              </a:rPr>
              <a:t>VMEDITHON 3.0  •  HACKATHON &amp; BUILDATHON</a:t>
            </a:r>
          </a:p>
        </p:txBody>
      </p:sp>
      <p:sp>
        <p:nvSpPr>
          <p:cNvPr id="10" name="Freeform 10"/>
          <p:cNvSpPr/>
          <p:nvPr/>
        </p:nvSpPr>
        <p:spPr>
          <a:xfrm>
            <a:off x="777773" y="8068652"/>
            <a:ext cx="3568945" cy="1189648"/>
          </a:xfrm>
          <a:custGeom>
            <a:avLst/>
            <a:gdLst/>
            <a:ahLst/>
            <a:cxnLst/>
            <a:rect l="l" t="t" r="r" b="b"/>
            <a:pathLst>
              <a:path w="3568945" h="1189648">
                <a:moveTo>
                  <a:pt x="0" y="0"/>
                </a:moveTo>
                <a:lnTo>
                  <a:pt x="3568946" y="0"/>
                </a:lnTo>
                <a:lnTo>
                  <a:pt x="3568946" y="1189648"/>
                </a:lnTo>
                <a:lnTo>
                  <a:pt x="0" y="11896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505649" y="19050"/>
            <a:ext cx="2276856" cy="1955414"/>
          </a:xfrm>
          <a:custGeom>
            <a:avLst/>
            <a:gdLst/>
            <a:ahLst/>
            <a:cxnLst/>
            <a:rect l="l" t="t" r="r" b="b"/>
            <a:pathLst>
              <a:path w="2276856" h="1955414">
                <a:moveTo>
                  <a:pt x="0" y="0"/>
                </a:moveTo>
                <a:lnTo>
                  <a:pt x="2276856" y="0"/>
                </a:lnTo>
                <a:lnTo>
                  <a:pt x="2276856" y="1955414"/>
                </a:lnTo>
                <a:lnTo>
                  <a:pt x="0" y="19554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157646" b="-100000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3891143" y="9525"/>
            <a:ext cx="2059249" cy="2186645"/>
          </a:xfrm>
          <a:custGeom>
            <a:avLst/>
            <a:gdLst/>
            <a:ahLst/>
            <a:cxnLst/>
            <a:rect l="l" t="t" r="r" b="b"/>
            <a:pathLst>
              <a:path w="2059249" h="2186645">
                <a:moveTo>
                  <a:pt x="0" y="0"/>
                </a:moveTo>
                <a:lnTo>
                  <a:pt x="2059249" y="0"/>
                </a:lnTo>
                <a:lnTo>
                  <a:pt x="2059249" y="2186645"/>
                </a:lnTo>
                <a:lnTo>
                  <a:pt x="0" y="21866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98791" b="-87588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5603719" y="336157"/>
            <a:ext cx="2016514" cy="1935237"/>
          </a:xfrm>
          <a:custGeom>
            <a:avLst/>
            <a:gdLst/>
            <a:ahLst/>
            <a:cxnLst/>
            <a:rect l="l" t="t" r="r" b="b"/>
            <a:pathLst>
              <a:path w="2016514" h="1935237">
                <a:moveTo>
                  <a:pt x="0" y="0"/>
                </a:moveTo>
                <a:lnTo>
                  <a:pt x="2016514" y="0"/>
                </a:lnTo>
                <a:lnTo>
                  <a:pt x="2016514" y="1935238"/>
                </a:lnTo>
                <a:lnTo>
                  <a:pt x="0" y="19352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09871" r="-202118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0837545" y="71434"/>
            <a:ext cx="3650548" cy="2464684"/>
          </a:xfrm>
          <a:custGeom>
            <a:avLst/>
            <a:gdLst/>
            <a:ahLst/>
            <a:cxnLst/>
            <a:rect l="l" t="t" r="r" b="b"/>
            <a:pathLst>
              <a:path w="3650548" h="2464684">
                <a:moveTo>
                  <a:pt x="0" y="0"/>
                </a:moveTo>
                <a:lnTo>
                  <a:pt x="3650547" y="0"/>
                </a:lnTo>
                <a:lnTo>
                  <a:pt x="3650547" y="2464684"/>
                </a:lnTo>
                <a:lnTo>
                  <a:pt x="0" y="24646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88505" t="-153689" r="-87488" b="-18834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6192765" y="336157"/>
            <a:ext cx="1794017" cy="1957095"/>
          </a:xfrm>
          <a:custGeom>
            <a:avLst/>
            <a:gdLst/>
            <a:ahLst/>
            <a:cxnLst/>
            <a:rect l="l" t="t" r="r" b="b"/>
            <a:pathLst>
              <a:path w="1794017" h="1957095">
                <a:moveTo>
                  <a:pt x="0" y="0"/>
                </a:moveTo>
                <a:lnTo>
                  <a:pt x="1794018" y="0"/>
                </a:lnTo>
                <a:lnTo>
                  <a:pt x="1794018" y="1957095"/>
                </a:lnTo>
                <a:lnTo>
                  <a:pt x="0" y="19570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55724" t="-115126" r="-9421" b="-8019"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4650017" y="631433"/>
            <a:ext cx="1312757" cy="1312757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1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15016504" y="865339"/>
            <a:ext cx="681540" cy="844946"/>
          </a:xfrm>
          <a:custGeom>
            <a:avLst/>
            <a:gdLst/>
            <a:ahLst/>
            <a:cxnLst/>
            <a:rect l="l" t="t" r="r" b="b"/>
            <a:pathLst>
              <a:path w="681540" h="844946">
                <a:moveTo>
                  <a:pt x="0" y="0"/>
                </a:moveTo>
                <a:lnTo>
                  <a:pt x="681540" y="0"/>
                </a:lnTo>
                <a:lnTo>
                  <a:pt x="681540" y="844946"/>
                </a:lnTo>
                <a:lnTo>
                  <a:pt x="0" y="84494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r="-519879"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2685759" y="420802"/>
            <a:ext cx="1264569" cy="1422171"/>
          </a:xfrm>
          <a:custGeom>
            <a:avLst/>
            <a:gdLst/>
            <a:ahLst/>
            <a:cxnLst/>
            <a:rect l="l" t="t" r="r" b="b"/>
            <a:pathLst>
              <a:path w="1264569" h="1422171">
                <a:moveTo>
                  <a:pt x="0" y="0"/>
                </a:moveTo>
                <a:lnTo>
                  <a:pt x="1264569" y="0"/>
                </a:lnTo>
                <a:lnTo>
                  <a:pt x="1264569" y="1422171"/>
                </a:lnTo>
                <a:lnTo>
                  <a:pt x="0" y="142217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7351107" y="672521"/>
            <a:ext cx="3600082" cy="1192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3"/>
              </a:lnSpc>
            </a:pPr>
            <a:r>
              <a:rPr lang="en-US" sz="227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School of Computer Science &amp; Engineering</a:t>
            </a:r>
          </a:p>
          <a:p>
            <a:pPr algn="ctr">
              <a:lnSpc>
                <a:spcPts val="3183"/>
              </a:lnSpc>
            </a:pPr>
            <a:r>
              <a:rPr lang="en-US" sz="227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(SCOPE)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848</Words>
  <Application>Microsoft Office PowerPoint</Application>
  <PresentationFormat>Custom</PresentationFormat>
  <Paragraphs>123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20" baseType="lpstr">
      <vt:lpstr>Calibri (MS)</vt:lpstr>
      <vt:lpstr>Aptos</vt:lpstr>
      <vt:lpstr>Arial</vt:lpstr>
      <vt:lpstr>IBM Plex Sans</vt:lpstr>
      <vt:lpstr>IBM Plex Mono Bold</vt:lpstr>
      <vt:lpstr>Archivo Black</vt:lpstr>
      <vt:lpstr>Calibri</vt:lpstr>
      <vt:lpstr>Akzidenz-Grotesk Bold</vt:lpstr>
      <vt:lpstr>Aptos Bold</vt:lpstr>
      <vt:lpstr>Calibri (MS) Bold</vt:lpstr>
      <vt:lpstr>Canva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VMEDITHON_3.0_Participant_Submission_Template.pptx</dc:title>
  <dc:creator>ABHINAV SHEKHAR</dc:creator>
  <cp:lastModifiedBy>ABHINAV SHEKHAR</cp:lastModifiedBy>
  <cp:revision>2</cp:revision>
  <dcterms:created xsi:type="dcterms:W3CDTF">2006-08-16T00:00:00Z</dcterms:created>
  <dcterms:modified xsi:type="dcterms:W3CDTF">2026-09-11T11:04:07Z</dcterms:modified>
  <dc:identifier>DAHUUwFGJrI</dc:identifier>
</cp:coreProperties>
</file>